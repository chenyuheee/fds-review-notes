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19" r:id="rId3"/>
    <p:sldId id="326" r:id="rId4"/>
    <p:sldId id="328" r:id="rId5"/>
    <p:sldId id="330" r:id="rId6"/>
    <p:sldId id="329" r:id="rId7"/>
    <p:sldId id="332" r:id="rId8"/>
    <p:sldId id="333" r:id="rId9"/>
    <p:sldId id="327" r:id="rId10"/>
    <p:sldId id="331" r:id="rId1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50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70C0"/>
    <a:srgbClr val="7F7F7F"/>
    <a:srgbClr val="0432FF"/>
    <a:srgbClr val="B3CDE3"/>
    <a:srgbClr val="FFFFFF"/>
    <a:srgbClr val="F2F2F2"/>
    <a:srgbClr val="DECBE4"/>
    <a:srgbClr val="FDDAEC"/>
    <a:srgbClr val="CCEB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>
      <p:cViewPr varScale="1">
        <p:scale>
          <a:sx n="111" d="100"/>
          <a:sy n="111" d="100"/>
        </p:scale>
        <p:origin x="1416" y="96"/>
      </p:cViewPr>
      <p:guideLst>
        <p:guide orient="horz" pos="350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18DECA-E9A8-48BE-3D5B-877A8320DF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EF55FB-503D-CB05-7650-792B5A8DA5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FE09142-E232-D65E-05CC-4B6D211D7E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382020-B0B7-314D-BE50-80609B97219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18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BAE4F0E-186E-E15A-0E97-9A7A3F2B43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FFB6A61-0761-0B38-F0BC-C59C2A78FC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7B2D00-60D6-FB6C-7237-AFE34D6241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DCA9B9-09C5-6C43-BE34-BD753B60B9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7041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456569C-2E63-F581-7C5B-5AA41B10CD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966E858-3519-66E2-62DE-14B179F2E9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DF5DC-71CB-7653-D156-0AE67B8540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CC2707-A45C-7B47-B726-BBD1B0CB798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2723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BC5B3B-619C-DD29-394A-CFA99FA0DB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AB4C31-0FB7-24FB-3803-E9BCDA63B6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61D424-07A2-99E5-33DA-44BBD3DE3D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B8B168-1E79-E649-AC2F-798DF43538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5908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3F8DF4-D320-999A-0B52-7B92AEC195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4E5A0E5-B1C1-014C-BB26-C477241BE3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54D5F27-C29C-8248-FF83-57AFDE3E33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4F23AF-C8E0-F64E-8B40-E0C4F2E1D2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9025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30B26D5-187E-ED81-C65A-DF12268872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E6DDDA1-13CA-8EE1-BA60-08CEBAC5CE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71796F3-717A-2F02-47B7-735E8E7F91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AD28C5-E7AA-524C-BADF-D32E7556FC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4842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D7562BC-878E-1CE0-8F59-C9866E2F53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C00A5924-8D03-F707-D17C-92CA27AC6C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644C2C4-9AC1-F0BD-A44E-7D6329A7D3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948E1-EF36-904B-8FAB-42C1F79CE8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090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83663-FD62-4917-058C-355C185369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F820C4-D2BC-40C1-9120-DE0DE4D24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CC4277-5554-A626-3DDA-7649F667064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B2813-F849-9E45-9595-24B32DC0549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39697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D998CC-B2AF-574C-1EAA-BE280923730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A6F277-D1F3-606F-9F6D-3649BD3026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CFFC5D-89D9-140E-0B15-0168D5AED8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91B60-704D-D740-9AFC-C7DE945DB6B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3839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324165-930D-E3D7-2448-25A7C95921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6AC77C-FE5E-A33E-6691-3254C080D7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69A642-3B1F-1E1C-E4AF-DA3D598706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4472E4-E93A-A343-AFC0-2276E5F0FD7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1138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FAD5EF-4B97-3A08-8F0B-1615881B5C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F8116D-B04F-2C18-F279-A47FE439F9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CBD7FD-CA74-7EEE-20EA-CA88E6149F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54D2A-BDAC-F544-B02A-DAC2B1CEE2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1946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3D10F8A-7DBE-A1EB-EDAA-C0F8284B41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A26C95C-6BCF-407F-6879-FFFF033657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EC3B31-5297-9B71-E80F-C498FF5D19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7C3BB2D-9082-25E2-F08A-78A78FC5A7A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94B0F11-66A9-9F8C-7D28-B8B82B206CE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pPr>
              <a:defRPr/>
            </a:pPr>
            <a:fld id="{804B8DBE-4F7E-EF46-9136-5192A4C5BC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motivation</a:t>
            </a:r>
            <a:endParaRPr lang="en-US" altLang="zh-CN" sz="240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2E05DB-D7A3-5A40-651A-2422B9DC6D63}"/>
              </a:ext>
            </a:extLst>
          </p:cNvPr>
          <p:cNvSpPr txBox="1"/>
          <p:nvPr/>
        </p:nvSpPr>
        <p:spPr>
          <a:xfrm>
            <a:off x="503548" y="909350"/>
            <a:ext cx="81369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/>
              <a:t>Given an array </a:t>
            </a:r>
            <a:r>
              <a:rPr lang="en-US" altLang="zh-CN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A[1000000]</a:t>
            </a:r>
            <a:r>
              <a:rPr lang="en-US" altLang="zh-CN" sz="2000" dirty="0"/>
              <a:t>, and we need to </a:t>
            </a:r>
            <a:r>
              <a:rPr lang="en-US" altLang="zh-CN" sz="2000" i="1" dirty="0"/>
              <a:t>frequently </a:t>
            </a:r>
            <a:r>
              <a:rPr lang="en-US" altLang="zh-CN" sz="2000" dirty="0"/>
              <a:t>c</a:t>
            </a:r>
            <a:r>
              <a:rPr lang="en-US" sz="2000" dirty="0"/>
              <a:t>alculate the </a:t>
            </a:r>
            <a:r>
              <a:rPr 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en-US" sz="2000" dirty="0"/>
              <a:t> of the numbers in an arbitrary </a:t>
            </a:r>
            <a:r>
              <a:rPr lang="en-US" sz="2000" i="1" dirty="0">
                <a:solidFill>
                  <a:srgbClr val="FF0000"/>
                </a:solidFill>
              </a:rPr>
              <a:t>range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[L, R]</a:t>
            </a:r>
            <a:r>
              <a:rPr lang="en-US" altLang="zh-CN" sz="2000" dirty="0"/>
              <a:t>.</a:t>
            </a:r>
            <a:endParaRPr lang="en-US" altLang="zh-CN" sz="2000" dirty="0">
              <a:solidFill>
                <a:srgbClr val="0070C0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43552E8-5E01-8716-BCD0-E01CCFCB1AF5}"/>
              </a:ext>
            </a:extLst>
          </p:cNvPr>
          <p:cNvGrpSpPr/>
          <p:nvPr/>
        </p:nvGrpSpPr>
        <p:grpSpPr>
          <a:xfrm>
            <a:off x="395536" y="1988840"/>
            <a:ext cx="8496944" cy="1685801"/>
            <a:chOff x="395536" y="2708920"/>
            <a:chExt cx="8496944" cy="16858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32BE0F-61C7-1BDE-4334-32620BB22750}"/>
                </a:ext>
              </a:extLst>
            </p:cNvPr>
            <p:cNvSpPr/>
            <p:nvPr/>
          </p:nvSpPr>
          <p:spPr bwMode="auto">
            <a:xfrm>
              <a:off x="395536" y="2708920"/>
              <a:ext cx="8496944" cy="792088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2CD323A-529A-255D-1329-415065FA2EE5}"/>
                </a:ext>
              </a:extLst>
            </p:cNvPr>
            <p:cNvSpPr/>
            <p:nvPr/>
          </p:nvSpPr>
          <p:spPr bwMode="auto">
            <a:xfrm>
              <a:off x="1979712" y="2708920"/>
              <a:ext cx="3600400" cy="792088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C4072F-35A4-32DD-FFC6-897BC8C15172}"/>
                </a:ext>
              </a:extLst>
            </p:cNvPr>
            <p:cNvSpPr txBox="1"/>
            <p:nvPr/>
          </p:nvSpPr>
          <p:spPr>
            <a:xfrm>
              <a:off x="1907704" y="3933056"/>
              <a:ext cx="3417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</a:t>
              </a:r>
              <a:endParaRPr lang="en-CN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57DC91-3624-DD74-885E-107AF461CBFB}"/>
                </a:ext>
              </a:extLst>
            </p:cNvPr>
            <p:cNvSpPr txBox="1"/>
            <p:nvPr/>
          </p:nvSpPr>
          <p:spPr>
            <a:xfrm>
              <a:off x="5310336" y="3933056"/>
              <a:ext cx="3417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lang="en-CN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5156AD3-2C07-A422-8327-3CE5C35119F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2078596" y="3573016"/>
              <a:ext cx="0" cy="36004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E3CC4A2D-8A3C-8BE5-8AB7-A3710A9E968C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5481228" y="3573016"/>
              <a:ext cx="0" cy="360040"/>
            </a:xfrm>
            <a:prstGeom prst="straightConnector1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4" name="AutoShape 3">
            <a:extLst>
              <a:ext uri="{FF2B5EF4-FFF2-40B4-BE49-F238E27FC236}">
                <a16:creationId xmlns:a16="http://schemas.microsoft.com/office/drawing/2014/main" id="{674423DE-6AB7-D93D-0FF3-F250CB7B3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3972207"/>
            <a:ext cx="7772400" cy="2553137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216000" tIns="190800" rIns="36000" bIns="46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Arial" panose="020B0604020202020204" pitchFamily="34" charset="0"/>
              </a:rPr>
              <a:t>ElementType</a:t>
            </a:r>
            <a:r>
              <a:rPr lang="en-US" altLang="zh-CN" sz="2000" dirty="0">
                <a:latin typeface="Arial" panose="020B0604020202020204" pitchFamily="34" charset="0"/>
              </a:rPr>
              <a:t>  Query ( </a:t>
            </a:r>
            <a:r>
              <a:rPr lang="en-US" altLang="zh-CN" sz="2000" dirty="0" err="1">
                <a:latin typeface="Arial" panose="020B0604020202020204" pitchFamily="34" charset="0"/>
              </a:rPr>
              <a:t>ElementType</a:t>
            </a:r>
            <a:r>
              <a:rPr lang="en-US" altLang="zh-CN" sz="2000" dirty="0">
                <a:latin typeface="Arial" panose="020B0604020202020204" pitchFamily="34" charset="0"/>
              </a:rPr>
              <a:t> A[ ],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L,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R 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{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rgbClr val="008000"/>
                </a:solidFill>
                <a:latin typeface="Arial" panose="020B0604020202020204" pitchFamily="34" charset="0"/>
              </a:rPr>
              <a:t>      </a:t>
            </a:r>
            <a:r>
              <a:rPr lang="en-US" altLang="zh-CN" sz="2000" dirty="0" err="1">
                <a:latin typeface="Arial" panose="020B0604020202020204" pitchFamily="34" charset="0"/>
              </a:rPr>
              <a:t>ElementType</a:t>
            </a:r>
            <a:r>
              <a:rPr lang="en-US" altLang="zh-CN" sz="2000" dirty="0">
                <a:latin typeface="Arial" panose="020B0604020202020204" pitchFamily="34" charset="0"/>
              </a:rPr>
              <a:t> sum = 0;</a:t>
            </a:r>
            <a:endParaRPr lang="en-US" altLang="zh-CN" sz="2000" dirty="0">
              <a:solidFill>
                <a:srgbClr val="008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for</a:t>
            </a:r>
            <a:r>
              <a:rPr lang="en-US" altLang="zh-CN" sz="2000" dirty="0">
                <a:latin typeface="Arial" panose="020B0604020202020204" pitchFamily="34" charset="0"/>
              </a:rPr>
              <a:t>  (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 err="1">
                <a:latin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 = L; </a:t>
            </a:r>
            <a:r>
              <a:rPr lang="en-US" altLang="zh-CN" sz="2000" dirty="0" err="1">
                <a:latin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 &lt;= R; ++</a:t>
            </a:r>
            <a:r>
              <a:rPr lang="en-US" altLang="zh-CN" sz="2000" dirty="0" err="1">
                <a:latin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  sum += A[</a:t>
            </a:r>
            <a:r>
              <a:rPr lang="en-US" altLang="zh-CN" sz="2000" dirty="0" err="1">
                <a:latin typeface="Arial" panose="020B0604020202020204" pitchFamily="34" charset="0"/>
              </a:rPr>
              <a:t>i</a:t>
            </a:r>
            <a:r>
              <a:rPr lang="en-US" altLang="zh-CN" sz="2000" dirty="0">
                <a:latin typeface="Arial" panose="020B0604020202020204" pitchFamily="34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2000" dirty="0">
                <a:latin typeface="Arial" panose="020B0604020202020204" pitchFamily="34" charset="0"/>
              </a:rPr>
              <a:t> sum;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}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E85784-05BA-7BEE-597C-6E0DFD69EC2E}"/>
              </a:ext>
            </a:extLst>
          </p:cNvPr>
          <p:cNvSpPr txBox="1"/>
          <p:nvPr/>
        </p:nvSpPr>
        <p:spPr>
          <a:xfrm>
            <a:off x="3923928" y="5423301"/>
            <a:ext cx="3674368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hangingPunct="1">
              <a:spcBef>
                <a:spcPts val="600"/>
              </a:spcBef>
            </a:pPr>
            <a:r>
              <a:rPr lang="en-US" altLang="zh-CN" i="1" dirty="0">
                <a:sym typeface="Wingdings" pitchFamily="2" charset="2"/>
              </a:rPr>
              <a:t>T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</a:t>
            </a:r>
          </a:p>
          <a:p>
            <a:pPr algn="r" eaLnBrk="1" hangingPunct="1">
              <a:spcBef>
                <a:spcPts val="600"/>
              </a:spcBef>
            </a:pPr>
            <a:r>
              <a:rPr lang="en-US" altLang="zh-CN" b="0" dirty="0">
                <a:sym typeface="Wingdings" pitchFamily="2" charset="2"/>
              </a:rPr>
              <a:t>👎</a:t>
            </a:r>
            <a:r>
              <a:rPr lang="en-US" altLang="zh-CN" dirty="0">
                <a:sym typeface="Wingdings" pitchFamily="2" charset="2"/>
              </a:rPr>
              <a:t> as a frequent operation</a:t>
            </a:r>
          </a:p>
        </p:txBody>
      </p:sp>
    </p:spTree>
    <p:extLst>
      <p:ext uri="{BB962C8B-B14F-4D97-AF65-F5344CB8AC3E}">
        <p14:creationId xmlns:p14="http://schemas.microsoft.com/office/powerpoint/2010/main" val="1993472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7" grpId="0"/>
      <p:bldP spid="24" grpId="0" animBg="1" autoUpdateAnimBg="0"/>
      <p:bldP spid="24" grpId="1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structure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939DEA3-CE50-D2DA-EA9D-358288A6363A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BB4AE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01410A1-4EDB-BA1E-EBC7-D8F34FD8A10D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32BE0F-61C7-1BDE-4334-32620BB22750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B88F211-C22E-0CBF-0223-DA97FD6D74A6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1D1D5B33-99D3-802F-70CB-317A9725697D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C26BF25-78F7-CDB5-2CAA-23DBABB37348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624EFEB-2C6C-D8D3-137D-2C0CDE556F9B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AA5E4DA-A6AB-78FB-1970-8D5691B4AB8D}"/>
              </a:ext>
            </a:extLst>
          </p:cNvPr>
          <p:cNvGrpSpPr/>
          <p:nvPr/>
        </p:nvGrpSpPr>
        <p:grpSpPr>
          <a:xfrm>
            <a:off x="392696" y="5517232"/>
            <a:ext cx="3024336" cy="288032"/>
            <a:chOff x="392696" y="4437112"/>
            <a:chExt cx="3024336" cy="288032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E670A6C-2B5C-272C-904E-60BE75A2EADE}"/>
                </a:ext>
              </a:extLst>
            </p:cNvPr>
            <p:cNvSpPr/>
            <p:nvPr/>
          </p:nvSpPr>
          <p:spPr bwMode="auto">
            <a:xfrm>
              <a:off x="392696" y="4437112"/>
              <a:ext cx="1512168" cy="288032"/>
            </a:xfrm>
            <a:prstGeom prst="rect">
              <a:avLst/>
            </a:prstGeom>
            <a:solidFill>
              <a:srgbClr val="FDDAE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D566415-DEA5-9045-3A5D-1843BE83528A}"/>
                </a:ext>
              </a:extLst>
            </p:cNvPr>
            <p:cNvSpPr/>
            <p:nvPr/>
          </p:nvSpPr>
          <p:spPr bwMode="auto">
            <a:xfrm>
              <a:off x="1904864" y="4437112"/>
              <a:ext cx="1512168" cy="288032"/>
            </a:xfrm>
            <a:prstGeom prst="rect">
              <a:avLst/>
            </a:prstGeom>
            <a:solidFill>
              <a:srgbClr val="F2F2F2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2" name="Oval 41">
            <a:extLst>
              <a:ext uri="{FF2B5EF4-FFF2-40B4-BE49-F238E27FC236}">
                <a16:creationId xmlns:a16="http://schemas.microsoft.com/office/drawing/2014/main" id="{ACAF0022-D98A-C705-FFBC-DCAF9097463B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B3CDE3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E653F84-E24F-2431-B8B6-A0EDB7C8C888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CCEBC5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11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A7C5C9B-9E2D-6962-27C1-709C278BD9D7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C9B40F4-35B6-ABB2-BC60-1AC9C5936728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7E1228D8-4E0D-EDD3-9337-74E68E2769E2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BB4AE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4447A2FD-5662-0F01-02DA-469818FEB6D3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DECBE4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D8B6D779-F1E5-DE4C-5109-022261AECDC7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FED9A6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9328A1A-4B9C-1DC1-EEA7-5DE31834B65E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1ECB9A34-788B-874F-262F-9322FB6CEE13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2CFA676E-C3C2-2C95-409F-36D4555EF652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8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95F10C04-00BC-3FDD-07B4-0A9EE13E4D59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E5D8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6CBFEA8C-EB70-B765-A16D-3B9A4BE1B243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414E95AD-A728-E9B6-D6F0-A9F61662AC43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E148355-1762-CA83-58AB-E5C28EB0E62C}"/>
              </a:ext>
            </a:extLst>
          </p:cNvPr>
          <p:cNvGrpSpPr/>
          <p:nvPr/>
        </p:nvGrpSpPr>
        <p:grpSpPr>
          <a:xfrm>
            <a:off x="392696" y="2972949"/>
            <a:ext cx="7563680" cy="288032"/>
            <a:chOff x="392696" y="2629203"/>
            <a:chExt cx="7563680" cy="288032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579ADC-740A-C2FD-12AC-F5C4CBAAE78A}"/>
                </a:ext>
              </a:extLst>
            </p:cNvPr>
            <p:cNvSpPr/>
            <p:nvPr/>
          </p:nvSpPr>
          <p:spPr bwMode="auto">
            <a:xfrm>
              <a:off x="392696" y="2629203"/>
              <a:ext cx="4539344" cy="288032"/>
            </a:xfrm>
            <a:prstGeom prst="rect">
              <a:avLst/>
            </a:prstGeom>
            <a:solidFill>
              <a:srgbClr val="B3CDE3">
                <a:alpha val="80000"/>
              </a:srgb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51C8C22-EC4F-5C78-AD5D-34CFEC3595E8}"/>
                </a:ext>
              </a:extLst>
            </p:cNvPr>
            <p:cNvSpPr/>
            <p:nvPr/>
          </p:nvSpPr>
          <p:spPr bwMode="auto">
            <a:xfrm>
              <a:off x="4932040" y="2629203"/>
              <a:ext cx="3024336" cy="288032"/>
            </a:xfrm>
            <a:prstGeom prst="rect">
              <a:avLst/>
            </a:prstGeom>
            <a:solidFill>
              <a:srgbClr val="CCEBC5">
                <a:alpha val="80000"/>
              </a:srgb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4154" name="Oval 4153">
            <a:extLst>
              <a:ext uri="{FF2B5EF4-FFF2-40B4-BE49-F238E27FC236}">
                <a16:creationId xmlns:a16="http://schemas.microsoft.com/office/drawing/2014/main" id="{9417EEB4-E209-C1C3-4438-0B7305372285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DDAE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3EFA6D43-6F67-C696-4DF4-DC5A77C201B9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2F2F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DDF0FE3E-96AA-9B45-DD71-1722DD89B782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8696A449-25D0-31E1-5B16-B2201B0BF8FD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6A1492A-E1A0-A58A-D683-82E1B926110C}"/>
              </a:ext>
            </a:extLst>
          </p:cNvPr>
          <p:cNvGrpSpPr/>
          <p:nvPr/>
        </p:nvGrpSpPr>
        <p:grpSpPr>
          <a:xfrm>
            <a:off x="395536" y="4245090"/>
            <a:ext cx="7560840" cy="288032"/>
            <a:chOff x="395536" y="3383760"/>
            <a:chExt cx="7560840" cy="28803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6FF811-16AC-E88D-82EB-E0778EC796FD}"/>
                </a:ext>
              </a:extLst>
            </p:cNvPr>
            <p:cNvSpPr/>
            <p:nvPr/>
          </p:nvSpPr>
          <p:spPr bwMode="auto">
            <a:xfrm>
              <a:off x="395536" y="3383760"/>
              <a:ext cx="3024336" cy="288032"/>
            </a:xfrm>
            <a:prstGeom prst="rect">
              <a:avLst/>
            </a:prstGeom>
            <a:solidFill>
              <a:srgbClr val="DECBE4">
                <a:alpha val="80000"/>
              </a:srgbClr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E48668-FA91-A018-AD1E-F44E640CC845}"/>
                </a:ext>
              </a:extLst>
            </p:cNvPr>
            <p:cNvSpPr/>
            <p:nvPr/>
          </p:nvSpPr>
          <p:spPr bwMode="auto">
            <a:xfrm>
              <a:off x="4932040" y="3383760"/>
              <a:ext cx="1512168" cy="288032"/>
            </a:xfrm>
            <a:prstGeom prst="rect">
              <a:avLst/>
            </a:prstGeom>
            <a:solidFill>
              <a:srgbClr val="FFFFCC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B484499-4B8B-F20C-C4B3-0FCF504EB7E8}"/>
                </a:ext>
              </a:extLst>
            </p:cNvPr>
            <p:cNvSpPr/>
            <p:nvPr/>
          </p:nvSpPr>
          <p:spPr bwMode="auto">
            <a:xfrm>
              <a:off x="3419872" y="3383760"/>
              <a:ext cx="1512168" cy="288032"/>
            </a:xfrm>
            <a:prstGeom prst="rect">
              <a:avLst/>
            </a:prstGeom>
            <a:solidFill>
              <a:srgbClr val="FED9A6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F0D7671-0FD0-D55C-EFA3-32F58151CDED}"/>
                </a:ext>
              </a:extLst>
            </p:cNvPr>
            <p:cNvSpPr/>
            <p:nvPr/>
          </p:nvSpPr>
          <p:spPr bwMode="auto">
            <a:xfrm>
              <a:off x="6444208" y="3383760"/>
              <a:ext cx="1512168" cy="288032"/>
            </a:xfrm>
            <a:prstGeom prst="rect">
              <a:avLst/>
            </a:prstGeom>
            <a:solidFill>
              <a:srgbClr val="E5D8BD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CN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</p:grpSp>
      <p:sp>
        <p:nvSpPr>
          <p:cNvPr id="83973" name="TextBox 83972">
            <a:extLst>
              <a:ext uri="{FF2B5EF4-FFF2-40B4-BE49-F238E27FC236}">
                <a16:creationId xmlns:a16="http://schemas.microsoft.com/office/drawing/2014/main" id="{CDAAF4EF-8C07-31EF-AA47-67F4831E4BE7}"/>
              </a:ext>
            </a:extLst>
          </p:cNvPr>
          <p:cNvSpPr txBox="1"/>
          <p:nvPr/>
        </p:nvSpPr>
        <p:spPr>
          <a:xfrm>
            <a:off x="7842010" y="5402613"/>
            <a:ext cx="954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</a:rPr>
              <a:t>int</a:t>
            </a: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 A[5];</a:t>
            </a:r>
          </a:p>
        </p:txBody>
      </p:sp>
      <p:cxnSp>
        <p:nvCxnSpPr>
          <p:cNvPr id="83975" name="Straight Arrow Connector 83974">
            <a:extLst>
              <a:ext uri="{FF2B5EF4-FFF2-40B4-BE49-F238E27FC236}">
                <a16:creationId xmlns:a16="http://schemas.microsoft.com/office/drawing/2014/main" id="{B2567438-3754-E552-33A6-85F3123D7C0A}"/>
              </a:ext>
            </a:extLst>
          </p:cNvPr>
          <p:cNvCxnSpPr>
            <a:cxnSpLocks/>
          </p:cNvCxnSpPr>
          <p:nvPr/>
        </p:nvCxnSpPr>
        <p:spPr bwMode="auto">
          <a:xfrm flipH="1">
            <a:off x="7812360" y="5741167"/>
            <a:ext cx="288032" cy="35212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4EF097F5-2004-78A5-8231-589DD4E5545E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13356C8D-4955-D268-2A2F-5E3A4E3077E9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13ABA05A-F5D2-85B4-F6DB-7B22A00BD1B2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/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F16196BF-A17E-5885-9E20-F4501FA8A857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/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8C48240E-304D-A0B7-2196-B87AFA481031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/>
          </a:p>
        </p:txBody>
      </p:sp>
      <p:sp>
        <p:nvSpPr>
          <p:cNvPr id="83992" name="Freeform 83991">
            <a:extLst>
              <a:ext uri="{FF2B5EF4-FFF2-40B4-BE49-F238E27FC236}">
                <a16:creationId xmlns:a16="http://schemas.microsoft.com/office/drawing/2014/main" id="{5F9534A4-1C25-DC0D-2C45-28987FC53AA9}"/>
              </a:ext>
            </a:extLst>
          </p:cNvPr>
          <p:cNvSpPr/>
          <p:nvPr/>
        </p:nvSpPr>
        <p:spPr bwMode="auto">
          <a:xfrm>
            <a:off x="0" y="0"/>
            <a:ext cx="9252520" cy="6858000"/>
          </a:xfrm>
          <a:custGeom>
            <a:avLst/>
            <a:gdLst>
              <a:gd name="connsiteX0" fmla="*/ 199391 w 9180512"/>
              <a:gd name="connsiteY0" fmla="*/ 5977376 h 6858000"/>
              <a:gd name="connsiteX1" fmla="*/ 199391 w 9180512"/>
              <a:gd name="connsiteY1" fmla="*/ 6822337 h 6858000"/>
              <a:gd name="connsiteX2" fmla="*/ 5034091 w 9180512"/>
              <a:gd name="connsiteY2" fmla="*/ 6822337 h 6858000"/>
              <a:gd name="connsiteX3" fmla="*/ 5034091 w 9180512"/>
              <a:gd name="connsiteY3" fmla="*/ 5977376 h 6858000"/>
              <a:gd name="connsiteX4" fmla="*/ 199391 w 9180512"/>
              <a:gd name="connsiteY4" fmla="*/ 2214654 h 6858000"/>
              <a:gd name="connsiteX5" fmla="*/ 199391 w 9180512"/>
              <a:gd name="connsiteY5" fmla="*/ 3393224 h 6858000"/>
              <a:gd name="connsiteX6" fmla="*/ 5034091 w 9180512"/>
              <a:gd name="connsiteY6" fmla="*/ 3393224 h 6858000"/>
              <a:gd name="connsiteX7" fmla="*/ 5034091 w 9180512"/>
              <a:gd name="connsiteY7" fmla="*/ 2214654 h 6858000"/>
              <a:gd name="connsiteX8" fmla="*/ 0 w 9180512"/>
              <a:gd name="connsiteY8" fmla="*/ 0 h 6858000"/>
              <a:gd name="connsiteX9" fmla="*/ 9180512 w 9180512"/>
              <a:gd name="connsiteY9" fmla="*/ 0 h 6858000"/>
              <a:gd name="connsiteX10" fmla="*/ 9180512 w 9180512"/>
              <a:gd name="connsiteY10" fmla="*/ 6858000 h 6858000"/>
              <a:gd name="connsiteX11" fmla="*/ 0 w 918051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180512" h="6858000">
                <a:moveTo>
                  <a:pt x="199391" y="5977376"/>
                </a:moveTo>
                <a:lnTo>
                  <a:pt x="199391" y="6822337"/>
                </a:lnTo>
                <a:lnTo>
                  <a:pt x="5034091" y="6822337"/>
                </a:lnTo>
                <a:lnTo>
                  <a:pt x="5034091" y="5977376"/>
                </a:lnTo>
                <a:close/>
                <a:moveTo>
                  <a:pt x="199391" y="2214654"/>
                </a:moveTo>
                <a:lnTo>
                  <a:pt x="199391" y="3393224"/>
                </a:lnTo>
                <a:lnTo>
                  <a:pt x="5034091" y="3393224"/>
                </a:lnTo>
                <a:lnTo>
                  <a:pt x="5034091" y="2214654"/>
                </a:lnTo>
                <a:close/>
                <a:moveTo>
                  <a:pt x="0" y="0"/>
                </a:moveTo>
                <a:lnTo>
                  <a:pt x="9180512" y="0"/>
                </a:lnTo>
                <a:lnTo>
                  <a:pt x="9180512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7F7F7F">
              <a:alpha val="80000"/>
            </a:srgbClr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cxnSp>
        <p:nvCxnSpPr>
          <p:cNvPr id="84007" name="Elbow Connector 84006">
            <a:extLst>
              <a:ext uri="{FF2B5EF4-FFF2-40B4-BE49-F238E27FC236}">
                <a16:creationId xmlns:a16="http://schemas.microsoft.com/office/drawing/2014/main" id="{37358611-F998-B670-6865-A925DF92E78D}"/>
              </a:ext>
            </a:extLst>
          </p:cNvPr>
          <p:cNvCxnSpPr>
            <a:stCxn id="32" idx="1"/>
            <a:endCxn id="8" idx="1"/>
          </p:cNvCxnSpPr>
          <p:nvPr/>
        </p:nvCxnSpPr>
        <p:spPr bwMode="auto">
          <a:xfrm rot="10800000" flipH="1" flipV="1">
            <a:off x="392695" y="3116964"/>
            <a:ext cx="7911" cy="3372375"/>
          </a:xfrm>
          <a:prstGeom prst="bentConnector3">
            <a:avLst>
              <a:gd name="adj1" fmla="val -1130729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84014" name="Elbow Connector 84013">
            <a:extLst>
              <a:ext uri="{FF2B5EF4-FFF2-40B4-BE49-F238E27FC236}">
                <a16:creationId xmlns:a16="http://schemas.microsoft.com/office/drawing/2014/main" id="{82EA4C6D-1535-80EB-9DC0-524B43CBECA5}"/>
              </a:ext>
            </a:extLst>
          </p:cNvPr>
          <p:cNvCxnSpPr>
            <a:stCxn id="33" idx="1"/>
            <a:endCxn id="31" idx="1"/>
          </p:cNvCxnSpPr>
          <p:nvPr/>
        </p:nvCxnSpPr>
        <p:spPr bwMode="auto">
          <a:xfrm rot="10800000" flipH="1" flipV="1">
            <a:off x="4932039" y="3116964"/>
            <a:ext cx="5071" cy="3372375"/>
          </a:xfrm>
          <a:prstGeom prst="bentConnector3">
            <a:avLst>
              <a:gd name="adj1" fmla="val 1567955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83992" grpId="0" animBg="1"/>
      <p:bldP spid="8399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E81E-3045-C5D8-6FA4-4C01A21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0E841723-C539-16A0-6D62-9E4275CB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how to build?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979E1E-630C-F4AC-F7E9-9B616BEE85D3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BB4AE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0DD144-0D17-56A4-5892-8EEC8EAEA7E3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7CC7AE-56EE-B57E-BFBB-D6C4C410431A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64F332-B474-53C3-F91F-F9785869581E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26BD72-C14F-7A17-48EB-C485AF30B031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CAB7CE-9CAD-94C0-2DE7-64DCF6B12385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E105D2F-2767-9693-F0C7-E446FD67E6ED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43C1B94-22C2-9052-E3E3-DB07E3159922}"/>
              </a:ext>
            </a:extLst>
          </p:cNvPr>
          <p:cNvSpPr/>
          <p:nvPr/>
        </p:nvSpPr>
        <p:spPr bwMode="auto">
          <a:xfrm>
            <a:off x="392696" y="5517232"/>
            <a:ext cx="1512168" cy="288032"/>
          </a:xfrm>
          <a:prstGeom prst="rect">
            <a:avLst/>
          </a:prstGeom>
          <a:solidFill>
            <a:srgbClr val="FDDAE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08BD4A-A6A2-34A4-58E8-05670F8A4715}"/>
              </a:ext>
            </a:extLst>
          </p:cNvPr>
          <p:cNvSpPr/>
          <p:nvPr/>
        </p:nvSpPr>
        <p:spPr bwMode="auto">
          <a:xfrm>
            <a:off x="1904864" y="5517232"/>
            <a:ext cx="1512168" cy="288032"/>
          </a:xfrm>
          <a:prstGeom prst="rect">
            <a:avLst/>
          </a:prstGeom>
          <a:solidFill>
            <a:srgbClr val="F2F2F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805F57-F96F-F566-C4F9-365CB184F7FA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B3CDE3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AAA22F-6012-47DC-65A3-4B08CBC9A7F3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CCEBC5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11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237AAE-7A3D-D5CF-13DD-0715D63110EB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A1282-3F65-A15A-B51B-153C9265EA59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96D92F-AEC3-E52C-ADF3-342F8538AF24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BB4AE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C8096BE-30B0-E092-C273-A7BF1F0CA747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DECBE4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57AF66-F493-28BE-41F0-0BFA20C41A55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FED9A6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FD0398-7F53-FDAA-BD79-1FB1B3BF6955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AECCE0A0-B407-2A2F-EDB8-855E34F021AA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3E9FF7A5-1C21-C7CA-C134-F5EDF0882F1D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8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367ECB2A-6999-A97E-F82B-AA9646B5C401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E5D8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0D08EE76-9D88-F10D-A7BE-B7ABC8374641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587F2AF8-9980-5A52-3613-2DBFCACFD84B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966C5BB-45E2-2995-8B88-AE03A6299A55}"/>
              </a:ext>
            </a:extLst>
          </p:cNvPr>
          <p:cNvSpPr/>
          <p:nvPr/>
        </p:nvSpPr>
        <p:spPr bwMode="auto">
          <a:xfrm>
            <a:off x="392696" y="2972949"/>
            <a:ext cx="4539344" cy="288032"/>
          </a:xfrm>
          <a:prstGeom prst="rect">
            <a:avLst/>
          </a:prstGeom>
          <a:solidFill>
            <a:srgbClr val="B3CDE3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6A5961-8AF6-45E9-3EA8-B8F5FEE72C58}"/>
              </a:ext>
            </a:extLst>
          </p:cNvPr>
          <p:cNvSpPr/>
          <p:nvPr/>
        </p:nvSpPr>
        <p:spPr bwMode="auto">
          <a:xfrm>
            <a:off x="4932040" y="2972949"/>
            <a:ext cx="3024336" cy="288032"/>
          </a:xfrm>
          <a:prstGeom prst="rect">
            <a:avLst/>
          </a:prstGeom>
          <a:solidFill>
            <a:srgbClr val="CCEBC5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54" name="Oval 4153">
            <a:extLst>
              <a:ext uri="{FF2B5EF4-FFF2-40B4-BE49-F238E27FC236}">
                <a16:creationId xmlns:a16="http://schemas.microsoft.com/office/drawing/2014/main" id="{C91F5488-E126-FFA7-E635-0BE4EE083ADD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DDAE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A0E52550-C807-94BF-5707-CD5734239860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2F2F2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BE2065A6-9614-119D-F0BD-93EA5DC9186B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61073DB8-CFBD-2369-1DE0-208F69764DF2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9168CDC-70F0-5D34-B43B-2DC569B68BE5}"/>
              </a:ext>
            </a:extLst>
          </p:cNvPr>
          <p:cNvSpPr/>
          <p:nvPr/>
        </p:nvSpPr>
        <p:spPr bwMode="auto">
          <a:xfrm>
            <a:off x="395536" y="4245090"/>
            <a:ext cx="3024336" cy="288032"/>
          </a:xfrm>
          <a:prstGeom prst="rect">
            <a:avLst/>
          </a:prstGeom>
          <a:solidFill>
            <a:srgbClr val="DECBE4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7CB2BC-74B6-23BE-0D25-91F59F3F3A0B}"/>
              </a:ext>
            </a:extLst>
          </p:cNvPr>
          <p:cNvSpPr/>
          <p:nvPr/>
        </p:nvSpPr>
        <p:spPr bwMode="auto">
          <a:xfrm>
            <a:off x="4932040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612E3B-1E37-CFC1-676C-3C45BCEF73E1}"/>
              </a:ext>
            </a:extLst>
          </p:cNvPr>
          <p:cNvSpPr/>
          <p:nvPr/>
        </p:nvSpPr>
        <p:spPr bwMode="auto">
          <a:xfrm>
            <a:off x="3419872" y="4245090"/>
            <a:ext cx="1512168" cy="288032"/>
          </a:xfrm>
          <a:prstGeom prst="rect">
            <a:avLst/>
          </a:prstGeom>
          <a:solidFill>
            <a:srgbClr val="FED9A6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F6283B-BFBD-9C95-B31C-E51545D13456}"/>
              </a:ext>
            </a:extLst>
          </p:cNvPr>
          <p:cNvSpPr/>
          <p:nvPr/>
        </p:nvSpPr>
        <p:spPr bwMode="auto">
          <a:xfrm>
            <a:off x="6444208" y="4245090"/>
            <a:ext cx="1512168" cy="288032"/>
          </a:xfrm>
          <a:prstGeom prst="rect">
            <a:avLst/>
          </a:prstGeom>
          <a:solidFill>
            <a:srgbClr val="E5D8BD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3" name="TextBox 83972">
            <a:extLst>
              <a:ext uri="{FF2B5EF4-FFF2-40B4-BE49-F238E27FC236}">
                <a16:creationId xmlns:a16="http://schemas.microsoft.com/office/drawing/2014/main" id="{3C110EB4-0E7E-0DD4-FA7A-C46BE08798A1}"/>
              </a:ext>
            </a:extLst>
          </p:cNvPr>
          <p:cNvSpPr txBox="1"/>
          <p:nvPr/>
        </p:nvSpPr>
        <p:spPr>
          <a:xfrm>
            <a:off x="7842010" y="5402613"/>
            <a:ext cx="9544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Arial" panose="020B0604020202020204" pitchFamily="34" charset="0"/>
              </a:rPr>
              <a:t>int</a:t>
            </a:r>
            <a:r>
              <a:rPr lang="en-CN" sz="1600" dirty="0">
                <a:latin typeface="Arial" panose="020B0604020202020204" pitchFamily="34" charset="0"/>
                <a:cs typeface="Arial" panose="020B0604020202020204" pitchFamily="34" charset="0"/>
              </a:rPr>
              <a:t> A[5];</a:t>
            </a:r>
          </a:p>
        </p:txBody>
      </p:sp>
      <p:cxnSp>
        <p:nvCxnSpPr>
          <p:cNvPr id="83975" name="Straight Arrow Connector 83974">
            <a:extLst>
              <a:ext uri="{FF2B5EF4-FFF2-40B4-BE49-F238E27FC236}">
                <a16:creationId xmlns:a16="http://schemas.microsoft.com/office/drawing/2014/main" id="{4770767A-9A46-37F4-29CD-3881F5CCCE1B}"/>
              </a:ext>
            </a:extLst>
          </p:cNvPr>
          <p:cNvCxnSpPr>
            <a:cxnSpLocks/>
          </p:cNvCxnSpPr>
          <p:nvPr/>
        </p:nvCxnSpPr>
        <p:spPr bwMode="auto">
          <a:xfrm flipH="1">
            <a:off x="7812360" y="5741167"/>
            <a:ext cx="288032" cy="352129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A5F1C2B7-5951-189E-0544-7837008A0644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4570D059-47BF-0C5E-D22E-6CE96E71B766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680C22F2-4748-8AC5-3574-D2EAA31246BE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/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4E8EBC50-DDFC-AD20-E94A-BDB17F7465AC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/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EBE3A16A-F400-E7E5-7895-DAB5E4057823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198D55C-90C7-0BCF-57E3-E17163C4363D}"/>
              </a:ext>
            </a:extLst>
          </p:cNvPr>
          <p:cNvCxnSpPr>
            <a:cxnSpLocks/>
          </p:cNvCxnSpPr>
          <p:nvPr/>
        </p:nvCxnSpPr>
        <p:spPr bwMode="auto">
          <a:xfrm flipH="1">
            <a:off x="4754579" y="1512697"/>
            <a:ext cx="753626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6B84F7E-7296-210F-2DE4-FAE97ECBD3B6}"/>
              </a:ext>
            </a:extLst>
          </p:cNvPr>
          <p:cNvSpPr txBox="1"/>
          <p:nvPr/>
        </p:nvSpPr>
        <p:spPr>
          <a:xfrm>
            <a:off x="5497582" y="1339143"/>
            <a:ext cx="2864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 stored, but c</a:t>
            </a:r>
            <a:r>
              <a:rPr lang="en-CN" sz="1400" dirty="0"/>
              <a:t>omputed </a:t>
            </a:r>
            <a:r>
              <a:rPr lang="en-CN" sz="1400" i="1" dirty="0"/>
              <a:t>on the fly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8F5418-C7F5-1496-230B-255D059CF0B4}"/>
              </a:ext>
            </a:extLst>
          </p:cNvPr>
          <p:cNvSpPr txBox="1"/>
          <p:nvPr/>
        </p:nvSpPr>
        <p:spPr>
          <a:xfrm>
            <a:off x="5493652" y="1086681"/>
            <a:ext cx="11143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stored </a:t>
            </a:r>
            <a:r>
              <a:rPr lang="en-US" sz="1400" i="1" dirty="0"/>
              <a:t>value</a:t>
            </a:r>
            <a:endParaRPr lang="en-CN" sz="1400" i="1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5394552-3BF7-0579-7F06-64B87B2B1DC8}"/>
              </a:ext>
            </a:extLst>
          </p:cNvPr>
          <p:cNvCxnSpPr>
            <a:cxnSpLocks/>
          </p:cNvCxnSpPr>
          <p:nvPr/>
        </p:nvCxnSpPr>
        <p:spPr bwMode="auto">
          <a:xfrm flipH="1">
            <a:off x="4754579" y="1268760"/>
            <a:ext cx="753626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64B73B2-4170-C75F-305E-36DBB68D92B0}"/>
              </a:ext>
            </a:extLst>
          </p:cNvPr>
          <p:cNvSpPr txBox="1"/>
          <p:nvPr/>
        </p:nvSpPr>
        <p:spPr>
          <a:xfrm>
            <a:off x="3573778" y="4833584"/>
            <a:ext cx="39184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/>
              <a:t>A </a:t>
            </a:r>
            <a:r>
              <a:rPr lang="en-CN" sz="2000" i="1" dirty="0"/>
              <a:t>complete binary tree</a:t>
            </a:r>
            <a:r>
              <a:rPr lang="en-CN" sz="2000" dirty="0"/>
              <a:t> that can be</a:t>
            </a:r>
          </a:p>
          <a:p>
            <a:r>
              <a:rPr lang="en-CN" sz="2000" dirty="0"/>
              <a:t>stored in an array: </a:t>
            </a:r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 tree[10];</a:t>
            </a:r>
            <a:endParaRPr lang="en-CN" sz="20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42FB83-4A4D-CE41-274C-DEB49D85F2B2}"/>
              </a:ext>
            </a:extLst>
          </p:cNvPr>
          <p:cNvSpPr txBox="1"/>
          <p:nvPr/>
        </p:nvSpPr>
        <p:spPr>
          <a:xfrm>
            <a:off x="3654788" y="113186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072E7-9976-692C-0125-590B8E7321EF}"/>
              </a:ext>
            </a:extLst>
          </p:cNvPr>
          <p:cNvSpPr txBox="1"/>
          <p:nvPr/>
        </p:nvSpPr>
        <p:spPr>
          <a:xfrm>
            <a:off x="2112065" y="2413011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34EBD5-0ACC-F9A5-7C02-BD314F2D7A1E}"/>
              </a:ext>
            </a:extLst>
          </p:cNvPr>
          <p:cNvSpPr txBox="1"/>
          <p:nvPr/>
        </p:nvSpPr>
        <p:spPr>
          <a:xfrm>
            <a:off x="5533000" y="240950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F0F734-94E6-1C3D-E1EE-32873FFD0EB6}"/>
              </a:ext>
            </a:extLst>
          </p:cNvPr>
          <p:cNvSpPr txBox="1"/>
          <p:nvPr/>
        </p:nvSpPr>
        <p:spPr>
          <a:xfrm>
            <a:off x="1078030" y="368058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C982E-8035-9FC1-8C51-A8587ECADF1B}"/>
              </a:ext>
            </a:extLst>
          </p:cNvPr>
          <p:cNvSpPr txBox="1"/>
          <p:nvPr/>
        </p:nvSpPr>
        <p:spPr>
          <a:xfrm>
            <a:off x="3316820" y="368058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6BE486-6E17-A6DC-EEFD-3187910E7562}"/>
              </a:ext>
            </a:extLst>
          </p:cNvPr>
          <p:cNvSpPr txBox="1"/>
          <p:nvPr/>
        </p:nvSpPr>
        <p:spPr>
          <a:xfrm>
            <a:off x="4932040" y="368058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[6]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22A626-5AA0-BA66-E611-2BFDD0007746}"/>
              </a:ext>
            </a:extLst>
          </p:cNvPr>
          <p:cNvSpPr txBox="1"/>
          <p:nvPr/>
        </p:nvSpPr>
        <p:spPr>
          <a:xfrm>
            <a:off x="6409462" y="3676698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[7]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D77406-7A6F-E4D0-0428-80E1F78CCCDE}"/>
              </a:ext>
            </a:extLst>
          </p:cNvPr>
          <p:cNvSpPr txBox="1"/>
          <p:nvPr/>
        </p:nvSpPr>
        <p:spPr>
          <a:xfrm>
            <a:off x="339654" y="496201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[8]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A20B94-BE7D-6ADB-5BD6-988E43B3559E}"/>
              </a:ext>
            </a:extLst>
          </p:cNvPr>
          <p:cNvSpPr txBox="1"/>
          <p:nvPr/>
        </p:nvSpPr>
        <p:spPr>
          <a:xfrm>
            <a:off x="1814236" y="4960470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N" sz="18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[9]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FA29AD-621C-5E01-5FD6-8E52C2031861}"/>
              </a:ext>
            </a:extLst>
          </p:cNvPr>
          <p:cNvSpPr txBox="1"/>
          <p:nvPr/>
        </p:nvSpPr>
        <p:spPr>
          <a:xfrm>
            <a:off x="4012109" y="5611099"/>
            <a:ext cx="3041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ts val="600"/>
              </a:spcBef>
            </a:pPr>
            <a:r>
              <a:rPr lang="en-US" altLang="zh-CN" i="1" dirty="0">
                <a:sym typeface="Wingdings" pitchFamily="2" charset="2"/>
              </a:rPr>
              <a:t>S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( 2</a:t>
            </a:r>
            <a:r>
              <a:rPr lang="en-US" altLang="zh-CN" i="1" dirty="0">
                <a:sym typeface="Wingdings" pitchFamily="2" charset="2"/>
              </a:rPr>
              <a:t>N–</a:t>
            </a:r>
            <a:r>
              <a:rPr lang="en-US" altLang="zh-CN" dirty="0">
                <a:sym typeface="Wingdings" pitchFamily="2" charset="2"/>
              </a:rPr>
              <a:t>1 ) </a:t>
            </a:r>
          </a:p>
        </p:txBody>
      </p:sp>
    </p:spTree>
    <p:extLst>
      <p:ext uri="{BB962C8B-B14F-4D97-AF65-F5344CB8AC3E}">
        <p14:creationId xmlns:p14="http://schemas.microsoft.com/office/powerpoint/2010/main" val="4162186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27" grpId="0" animBg="1"/>
      <p:bldP spid="39" grpId="0" animBg="1"/>
      <p:bldP spid="40" grpId="0" animBg="1"/>
      <p:bldP spid="42" grpId="0" animBg="1"/>
      <p:bldP spid="46" grpId="0" animBg="1"/>
      <p:bldP spid="41" grpId="0" animBg="1"/>
      <p:bldP spid="59" grpId="0" animBg="1"/>
      <p:bldP spid="60" grpId="0" animBg="1"/>
      <p:bldP spid="4102" grpId="0" animBg="1"/>
      <p:bldP spid="4103" grpId="0" animBg="1"/>
      <p:bldP spid="32" grpId="0" animBg="1"/>
      <p:bldP spid="33" grpId="0" animBg="1"/>
      <p:bldP spid="4154" grpId="0" animBg="1"/>
      <p:bldP spid="4155" grpId="0" animBg="1"/>
      <p:bldP spid="35" grpId="0" animBg="1"/>
      <p:bldP spid="36" grpId="0" animBg="1"/>
      <p:bldP spid="37" grpId="0" animBg="1"/>
      <p:bldP spid="38" grpId="0" animBg="1"/>
      <p:bldP spid="5" grpId="0"/>
      <p:bldP spid="6" grpId="0"/>
      <p:bldP spid="9" grpId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how to build?</a:t>
            </a:r>
            <a:endParaRPr lang="en-US" altLang="zh-CN" sz="2400" i="1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92AC1A09-33CE-727E-A695-436E5B661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80729"/>
            <a:ext cx="7772400" cy="5544616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216000" tIns="190800" rIns="36000" bIns="46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2000" dirty="0">
                <a:latin typeface="Arial" panose="020B0604020202020204" pitchFamily="34" charset="0"/>
              </a:rPr>
              <a:t> </a:t>
            </a:r>
            <a:r>
              <a:rPr lang="en-US" altLang="zh-CN" sz="2000" dirty="0">
                <a:solidFill>
                  <a:schemeClr val="accent6"/>
                </a:solidFill>
                <a:latin typeface="Arial" panose="020B0604020202020204" pitchFamily="34" charset="0"/>
              </a:rPr>
              <a:t>Build </a:t>
            </a:r>
            <a:r>
              <a:rPr lang="en-US" altLang="zh-CN" sz="2000" dirty="0">
                <a:latin typeface="Arial" panose="020B0604020202020204" pitchFamily="34" charset="0"/>
              </a:rPr>
              <a:t>(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node,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start,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end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latin typeface="Arial" panose="020B0604020202020204" pitchFamily="34" charset="0"/>
              </a:rPr>
              <a:t>// Base Case: Leaf Node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2000" dirty="0">
                <a:latin typeface="Arial" panose="020B0604020202020204" pitchFamily="34" charset="0"/>
              </a:rPr>
              <a:t> ( start == end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tree[ node ] = A[ start 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latin typeface="Arial" panose="020B0604020202020204" pitchFamily="34" charset="0"/>
              </a:rPr>
              <a:t>// Recursive Step: Split and Build Children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2000" dirty="0">
                <a:latin typeface="Arial" panose="020B0604020202020204" pitchFamily="34" charset="0"/>
              </a:rPr>
              <a:t> mid = ( start + end ) /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chemeClr val="accent6"/>
                </a:solidFill>
                <a:latin typeface="Arial" panose="020B0604020202020204" pitchFamily="34" charset="0"/>
              </a:rPr>
              <a:t>Build</a:t>
            </a:r>
            <a:r>
              <a:rPr lang="en-US" altLang="zh-CN" sz="2000" dirty="0">
                <a:latin typeface="Arial" panose="020B0604020202020204" pitchFamily="34" charset="0"/>
              </a:rPr>
              <a:t> (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 * node, start, mid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chemeClr val="accent6"/>
                </a:solidFill>
                <a:latin typeface="Arial" panose="020B0604020202020204" pitchFamily="34" charset="0"/>
              </a:rPr>
              <a:t>Build</a:t>
            </a:r>
            <a:r>
              <a:rPr lang="en-US" altLang="zh-CN" sz="2000" dirty="0">
                <a:latin typeface="Arial" panose="020B0604020202020204" pitchFamily="34" charset="0"/>
              </a:rPr>
              <a:t> (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 * node +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2000" dirty="0">
                <a:latin typeface="Arial" panose="020B0604020202020204" pitchFamily="34" charset="0"/>
              </a:rPr>
              <a:t>, mid +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2000" dirty="0">
                <a:latin typeface="Arial" panose="020B0604020202020204" pitchFamily="34" charset="0"/>
              </a:rPr>
              <a:t>, end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</a:t>
            </a:r>
            <a:r>
              <a:rPr lang="en-US" altLang="zh-CN" sz="2000" dirty="0">
                <a:solidFill>
                  <a:srgbClr val="008000"/>
                </a:solidFill>
                <a:latin typeface="Arial" panose="020B0604020202020204" pitchFamily="34" charset="0"/>
              </a:rPr>
              <a:t>// Merge Logic: Sum of children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    tree[ node ] = tree[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 * node ] + tree[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2000" dirty="0">
                <a:latin typeface="Arial" panose="020B0604020202020204" pitchFamily="34" charset="0"/>
              </a:rPr>
              <a:t> * node + </a:t>
            </a: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 </a:t>
            </a:r>
            <a:r>
              <a:rPr lang="en-US" altLang="zh-CN" sz="2000" dirty="0">
                <a:latin typeface="Arial" panose="020B0604020202020204" pitchFamily="34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C792F-1613-07D8-3924-357FD6C782C3}"/>
              </a:ext>
            </a:extLst>
          </p:cNvPr>
          <p:cNvSpPr txBox="1"/>
          <p:nvPr/>
        </p:nvSpPr>
        <p:spPr>
          <a:xfrm>
            <a:off x="5004048" y="2204864"/>
            <a:ext cx="2736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i="1" dirty="0">
                <a:sym typeface="Wingdings" pitchFamily="2" charset="2"/>
              </a:rPr>
              <a:t>T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</a:t>
            </a:r>
          </a:p>
          <a:p>
            <a:pPr algn="r"/>
            <a:r>
              <a:rPr lang="en-US" dirty="0">
                <a:sym typeface="Wingdings" pitchFamily="2" charset="2"/>
              </a:rPr>
              <a:t>but run only once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689503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4" grpId="0" animBg="1" autoUpdateAnimBg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E81E-3045-C5D8-6FA4-4C01A21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0E841723-C539-16A0-6D62-9E4275CB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query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979E1E-630C-F4AC-F7E9-9B616BEE85D3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25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0DD144-0D17-56A4-5892-8EEC8EAEA7E3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7CC7AE-56EE-B57E-BFBB-D6C4C410431A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64F332-B474-53C3-F91F-F9785869581E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26BD72-C14F-7A17-48EB-C485AF30B031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accent3"/>
                  </a:solidFill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CAB7CE-9CAD-94C0-2DE7-64DCF6B12385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accent3"/>
                  </a:solidFill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E105D2F-2767-9693-F0C7-E446FD67E6ED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accent3"/>
                  </a:solidFill>
                  <a:effectLst/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43C1B94-22C2-9052-E3E3-DB07E3159922}"/>
              </a:ext>
            </a:extLst>
          </p:cNvPr>
          <p:cNvSpPr/>
          <p:nvPr/>
        </p:nvSpPr>
        <p:spPr bwMode="auto">
          <a:xfrm>
            <a:off x="392696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08BD4A-A6A2-34A4-58E8-05670F8A4715}"/>
              </a:ext>
            </a:extLst>
          </p:cNvPr>
          <p:cNvSpPr/>
          <p:nvPr/>
        </p:nvSpPr>
        <p:spPr bwMode="auto">
          <a:xfrm>
            <a:off x="1904864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805F57-F96F-F566-C4F9-365CB184F7FA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AAA22F-6012-47DC-65A3-4B08CBC9A7F3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007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11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237AAE-7A3D-D5CF-13DD-0715D63110EB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A1282-3F65-A15A-B51B-153C9265EA59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96D92F-AEC3-E52C-ADF3-342F8538AF24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F000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rgbClr val="7F7F7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C8096BE-30B0-E092-C273-A7BF1F0CA747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00B05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57AF66-F493-28BE-41F0-0BFA20C41A55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007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FD0398-7F53-FDAA-BD79-1FB1B3BF6955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AECCE0A0-B407-2A2F-EDB8-855E34F021AA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3E9FF7A5-1C21-C7CA-C134-F5EDF0882F1D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8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367ECB2A-6999-A97E-F82B-AA9646B5C401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0D08EE76-9D88-F10D-A7BE-B7ABC8374641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587F2AF8-9980-5A52-3613-2DBFCACFD84B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966C5BB-45E2-2995-8B88-AE03A6299A55}"/>
              </a:ext>
            </a:extLst>
          </p:cNvPr>
          <p:cNvSpPr/>
          <p:nvPr/>
        </p:nvSpPr>
        <p:spPr bwMode="auto">
          <a:xfrm>
            <a:off x="392696" y="2972949"/>
            <a:ext cx="4539344" cy="288032"/>
          </a:xfrm>
          <a:prstGeom prst="rect">
            <a:avLst/>
          </a:prstGeom>
          <a:solidFill>
            <a:srgbClr val="FF000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6A5961-8AF6-45E9-3EA8-B8F5FEE72C58}"/>
              </a:ext>
            </a:extLst>
          </p:cNvPr>
          <p:cNvSpPr/>
          <p:nvPr/>
        </p:nvSpPr>
        <p:spPr bwMode="auto">
          <a:xfrm>
            <a:off x="4932040" y="2972949"/>
            <a:ext cx="3024336" cy="288032"/>
          </a:xfrm>
          <a:prstGeom prst="rect">
            <a:avLst/>
          </a:prstGeom>
          <a:solidFill>
            <a:srgbClr val="0070C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54" name="Oval 4153">
            <a:extLst>
              <a:ext uri="{FF2B5EF4-FFF2-40B4-BE49-F238E27FC236}">
                <a16:creationId xmlns:a16="http://schemas.microsoft.com/office/drawing/2014/main" id="{C91F5488-E126-FFA7-E635-0BE4EE083ADD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A0E52550-C807-94BF-5707-CD5734239860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BE2065A6-9614-119D-F0BD-93EA5DC9186B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61073DB8-CFBD-2369-1DE0-208F69764DF2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9168CDC-70F0-5D34-B43B-2DC569B68BE5}"/>
              </a:ext>
            </a:extLst>
          </p:cNvPr>
          <p:cNvSpPr/>
          <p:nvPr/>
        </p:nvSpPr>
        <p:spPr bwMode="auto">
          <a:xfrm>
            <a:off x="395536" y="4245090"/>
            <a:ext cx="3024336" cy="288032"/>
          </a:xfrm>
          <a:prstGeom prst="rect">
            <a:avLst/>
          </a:prstGeom>
          <a:solidFill>
            <a:srgbClr val="00B05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7CB2BC-74B6-23BE-0D25-91F59F3F3A0B}"/>
              </a:ext>
            </a:extLst>
          </p:cNvPr>
          <p:cNvSpPr/>
          <p:nvPr/>
        </p:nvSpPr>
        <p:spPr bwMode="auto">
          <a:xfrm>
            <a:off x="4932040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612E3B-1E37-CFC1-676C-3C45BCEF73E1}"/>
              </a:ext>
            </a:extLst>
          </p:cNvPr>
          <p:cNvSpPr/>
          <p:nvPr/>
        </p:nvSpPr>
        <p:spPr bwMode="auto">
          <a:xfrm>
            <a:off x="3419872" y="4245090"/>
            <a:ext cx="1512168" cy="288032"/>
          </a:xfrm>
          <a:prstGeom prst="rect">
            <a:avLst/>
          </a:prstGeom>
          <a:solidFill>
            <a:srgbClr val="0070C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F6283B-BFBD-9C95-B31C-E51545D13456}"/>
              </a:ext>
            </a:extLst>
          </p:cNvPr>
          <p:cNvSpPr/>
          <p:nvPr/>
        </p:nvSpPr>
        <p:spPr bwMode="auto">
          <a:xfrm>
            <a:off x="6444208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A5F1C2B7-5951-189E-0544-7837008A0644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4570D059-47BF-0C5E-D22E-6CE96E71B766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680C22F2-4748-8AC5-3574-D2EAA31246BE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4E8EBC50-DDFC-AD20-E94A-BDB17F7465AC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EBE3A16A-F400-E7E5-7895-DAB5E4057823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00024-1610-EC82-2519-FC062D0498B1}"/>
              </a:ext>
            </a:extLst>
          </p:cNvPr>
          <p:cNvSpPr txBox="1"/>
          <p:nvPr/>
        </p:nvSpPr>
        <p:spPr>
          <a:xfrm>
            <a:off x="3424943" y="5013176"/>
            <a:ext cx="48943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[  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2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sz="1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 4</a:t>
            </a:r>
            <a:r>
              <a:rPr lang="en-US" sz="4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endParaRPr lang="en-CN" sz="40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73458C-3B3B-0851-3D45-6CB8FFAAA90F}"/>
              </a:ext>
            </a:extLst>
          </p:cNvPr>
          <p:cNvCxnSpPr>
            <a:cxnSpLocks/>
          </p:cNvCxnSpPr>
          <p:nvPr/>
        </p:nvCxnSpPr>
        <p:spPr bwMode="auto">
          <a:xfrm>
            <a:off x="7164288" y="5767254"/>
            <a:ext cx="0" cy="39805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6AACF6-E66F-5D2F-6BAB-F15E8DE3C407}"/>
              </a:ext>
            </a:extLst>
          </p:cNvPr>
          <p:cNvCxnSpPr>
            <a:cxnSpLocks/>
          </p:cNvCxnSpPr>
          <p:nvPr/>
        </p:nvCxnSpPr>
        <p:spPr bwMode="auto">
          <a:xfrm>
            <a:off x="4187890" y="5767254"/>
            <a:ext cx="0" cy="39805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56893EF-1920-CBEE-56C1-3597BD7702D6}"/>
              </a:ext>
            </a:extLst>
          </p:cNvPr>
          <p:cNvSpPr txBox="1"/>
          <p:nvPr/>
        </p:nvSpPr>
        <p:spPr>
          <a:xfrm>
            <a:off x="6670194" y="2143889"/>
            <a:ext cx="1396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Overlap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31EF19-62CE-D472-4A42-622270D9F9B4}"/>
              </a:ext>
            </a:extLst>
          </p:cNvPr>
          <p:cNvSpPr txBox="1"/>
          <p:nvPr/>
        </p:nvSpPr>
        <p:spPr>
          <a:xfrm>
            <a:off x="4382447" y="3429000"/>
            <a:ext cx="1396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Overlap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A04669-B2D9-50D8-B250-DA32F8C1E239}"/>
              </a:ext>
            </a:extLst>
          </p:cNvPr>
          <p:cNvSpPr txBox="1"/>
          <p:nvPr/>
        </p:nvSpPr>
        <p:spPr>
          <a:xfrm>
            <a:off x="3203848" y="2143889"/>
            <a:ext cx="1529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Overlap</a:t>
            </a:r>
            <a:endParaRPr lang="en-CN" sz="1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203217-5D3B-737F-4BDD-97036C46C47A}"/>
              </a:ext>
            </a:extLst>
          </p:cNvPr>
          <p:cNvSpPr txBox="1"/>
          <p:nvPr/>
        </p:nvSpPr>
        <p:spPr>
          <a:xfrm>
            <a:off x="4849406" y="896285"/>
            <a:ext cx="1529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Partial Overlap</a:t>
            </a:r>
            <a:endParaRPr lang="en-CN" sz="1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E119384-4202-E91C-24B3-5A16E9E71312}"/>
              </a:ext>
            </a:extLst>
          </p:cNvPr>
          <p:cNvSpPr txBox="1"/>
          <p:nvPr/>
        </p:nvSpPr>
        <p:spPr>
          <a:xfrm>
            <a:off x="2123728" y="3429000"/>
            <a:ext cx="103610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Overlap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B7AA08-7E63-CD1C-A07E-791F69B06823}"/>
              </a:ext>
            </a:extLst>
          </p:cNvPr>
          <p:cNvSpPr txBox="1"/>
          <p:nvPr/>
        </p:nvSpPr>
        <p:spPr>
          <a:xfrm>
            <a:off x="5958408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133EFA-A2FD-B431-D393-8975059EDABB}"/>
              </a:ext>
            </a:extLst>
          </p:cNvPr>
          <p:cNvSpPr txBox="1"/>
          <p:nvPr/>
        </p:nvSpPr>
        <p:spPr>
          <a:xfrm>
            <a:off x="7423411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301CCD-3FFB-F733-ACCE-C298D1E34E0D}"/>
              </a:ext>
            </a:extLst>
          </p:cNvPr>
          <p:cNvSpPr txBox="1"/>
          <p:nvPr/>
        </p:nvSpPr>
        <p:spPr>
          <a:xfrm>
            <a:off x="1409453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15A80E-83AD-6566-AABB-90D5AB52DA1A}"/>
              </a:ext>
            </a:extLst>
          </p:cNvPr>
          <p:cNvSpPr txBox="1"/>
          <p:nvPr/>
        </p:nvSpPr>
        <p:spPr>
          <a:xfrm>
            <a:off x="2942084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1697525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query</a:t>
            </a:r>
            <a:endParaRPr lang="en-US" altLang="zh-CN" sz="2400" i="1" dirty="0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92AC1A09-33CE-727E-A695-436E5B661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80729"/>
            <a:ext cx="7772400" cy="5544616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216000" tIns="190800" rIns="36000" bIns="46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accent6"/>
                </a:solidFill>
                <a:latin typeface="Arial" panose="020B0604020202020204" pitchFamily="34" charset="0"/>
              </a:rPr>
              <a:t>Query </a:t>
            </a:r>
            <a:r>
              <a:rPr lang="en-US" altLang="zh-CN" sz="1800" dirty="0">
                <a:latin typeface="Arial" panose="020B0604020202020204" pitchFamily="34" charset="0"/>
              </a:rPr>
              <a:t>(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node,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start,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end,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L,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R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rgbClr val="008000"/>
                </a:solidFill>
                <a:latin typeface="Arial" panose="020B0604020202020204" pitchFamily="34" charset="0"/>
              </a:rPr>
              <a:t>// Case 1: No Overlap (Node is completely outside query range)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dirty="0">
                <a:latin typeface="Arial" panose="020B0604020202020204" pitchFamily="34" charset="0"/>
              </a:rPr>
              <a:t> ( R &lt; start || end &lt; L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0</a:t>
            </a:r>
            <a:r>
              <a:rPr lang="en-US" altLang="zh-CN" sz="18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rgbClr val="008000"/>
                </a:solidFill>
                <a:latin typeface="Arial" panose="020B0604020202020204" pitchFamily="34" charset="0"/>
              </a:rPr>
              <a:t>// Case 2: Total Overlap (Node is completely inside query range)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800" dirty="0">
                <a:latin typeface="Arial" panose="020B0604020202020204" pitchFamily="34" charset="0"/>
              </a:rPr>
              <a:t> ( L &lt;= start &amp;&amp; end &lt;= R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dirty="0">
                <a:latin typeface="Arial" panose="020B0604020202020204" pitchFamily="34" charset="0"/>
              </a:rPr>
              <a:t> tree[ node 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rgbClr val="008000"/>
                </a:solidFill>
                <a:latin typeface="Arial" panose="020B0604020202020204" pitchFamily="34" charset="0"/>
              </a:rPr>
              <a:t>// Case 3: Partial Overlap (We need to go deeper into both children)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mid = ( start + end ) /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8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 err="1">
                <a:latin typeface="Arial" panose="020B0604020202020204" pitchFamily="34" charset="0"/>
              </a:rPr>
              <a:t>left_sum</a:t>
            </a:r>
            <a:r>
              <a:rPr lang="en-US" altLang="zh-CN" sz="1800" dirty="0">
                <a:latin typeface="Arial" panose="020B0604020202020204" pitchFamily="34" charset="0"/>
              </a:rPr>
              <a:t> = </a:t>
            </a:r>
            <a:r>
              <a:rPr lang="en-US" altLang="zh-CN" sz="1800" dirty="0">
                <a:solidFill>
                  <a:schemeClr val="accent6"/>
                </a:solidFill>
                <a:latin typeface="Arial" panose="020B0604020202020204" pitchFamily="34" charset="0"/>
              </a:rPr>
              <a:t>Query </a:t>
            </a:r>
            <a:r>
              <a:rPr lang="en-US" altLang="zh-CN" sz="1800" dirty="0">
                <a:latin typeface="Arial" panose="020B0604020202020204" pitchFamily="34" charset="0"/>
              </a:rPr>
              <a:t>(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800" dirty="0">
                <a:latin typeface="Arial" panose="020B0604020202020204" pitchFamily="34" charset="0"/>
              </a:rPr>
              <a:t> * node, start, mid, L, R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 err="1">
                <a:latin typeface="Arial" panose="020B0604020202020204" pitchFamily="34" charset="0"/>
              </a:rPr>
              <a:t>right_sum</a:t>
            </a:r>
            <a:r>
              <a:rPr lang="en-US" altLang="zh-CN" sz="1800" dirty="0">
                <a:latin typeface="Arial" panose="020B0604020202020204" pitchFamily="34" charset="0"/>
              </a:rPr>
              <a:t> = </a:t>
            </a:r>
            <a:r>
              <a:rPr lang="en-US" altLang="zh-CN" sz="1800" dirty="0">
                <a:solidFill>
                  <a:schemeClr val="accent6"/>
                </a:solidFill>
                <a:latin typeface="Arial" panose="020B0604020202020204" pitchFamily="34" charset="0"/>
              </a:rPr>
              <a:t>Query </a:t>
            </a:r>
            <a:r>
              <a:rPr lang="en-US" altLang="zh-CN" sz="1800" dirty="0">
                <a:latin typeface="Arial" panose="020B0604020202020204" pitchFamily="34" charset="0"/>
              </a:rPr>
              <a:t>(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800" dirty="0">
                <a:latin typeface="Arial" panose="020B0604020202020204" pitchFamily="34" charset="0"/>
              </a:rPr>
              <a:t> * node +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1800" dirty="0">
                <a:latin typeface="Arial" panose="020B0604020202020204" pitchFamily="34" charset="0"/>
              </a:rPr>
              <a:t>, mid + </a:t>
            </a:r>
            <a:r>
              <a:rPr lang="en-US" altLang="zh-CN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1800" dirty="0">
                <a:latin typeface="Arial" panose="020B0604020202020204" pitchFamily="34" charset="0"/>
              </a:rPr>
              <a:t>, end, L, R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 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800" dirty="0">
                <a:latin typeface="Arial" panose="020B0604020202020204" pitchFamily="34" charset="0"/>
              </a:rPr>
              <a:t> </a:t>
            </a:r>
            <a:r>
              <a:rPr lang="en-US" altLang="zh-CN" sz="1800" dirty="0" err="1">
                <a:latin typeface="Arial" panose="020B0604020202020204" pitchFamily="34" charset="0"/>
              </a:rPr>
              <a:t>left_sum</a:t>
            </a:r>
            <a:r>
              <a:rPr lang="en-US" altLang="zh-CN" sz="1800" dirty="0">
                <a:latin typeface="Arial" panose="020B0604020202020204" pitchFamily="34" charset="0"/>
              </a:rPr>
              <a:t> + </a:t>
            </a:r>
            <a:r>
              <a:rPr lang="en-US" altLang="zh-CN" sz="1800" dirty="0" err="1">
                <a:latin typeface="Arial" panose="020B0604020202020204" pitchFamily="34" charset="0"/>
              </a:rPr>
              <a:t>right_sum</a:t>
            </a:r>
            <a:r>
              <a:rPr lang="en-US" altLang="zh-CN" sz="18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C792F-1613-07D8-3924-357FD6C782C3}"/>
              </a:ext>
            </a:extLst>
          </p:cNvPr>
          <p:cNvSpPr txBox="1"/>
          <p:nvPr/>
        </p:nvSpPr>
        <p:spPr>
          <a:xfrm>
            <a:off x="5148064" y="332655"/>
            <a:ext cx="31683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ym typeface="Wingdings" pitchFamily="2" charset="2"/>
              </a:rPr>
              <a:t>👍 </a:t>
            </a:r>
            <a:r>
              <a:rPr lang="en-US" altLang="zh-CN" i="1" dirty="0">
                <a:sym typeface="Wingdings" pitchFamily="2" charset="2"/>
              </a:rPr>
              <a:t>T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log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235850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4" grpId="0" animBg="1" autoUpdateAnimBg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E81E-3045-C5D8-6FA4-4C01A21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0E841723-C539-16A0-6D62-9E4275CB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update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979E1E-630C-F4AC-F7E9-9B616BEE85D3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25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0DD144-0D17-56A4-5892-8EEC8EAEA7E3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7CC7AE-56EE-B57E-BFBB-D6C4C410431A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64F332-B474-53C3-F91F-F9785869581E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26BD72-C14F-7A17-48EB-C485AF30B031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CAB7CE-9CAD-94C0-2DE7-64DCF6B12385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E105D2F-2767-9693-F0C7-E446FD67E6ED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solidFill>
              <a:srgbClr val="0070C0"/>
            </a:solidFill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accent3"/>
                  </a:solidFill>
                  <a:effectLst/>
                  <a:latin typeface="Times New Roman" pitchFamily="18" charset="0"/>
                  <a:ea typeface="宋体" pitchFamily="2" charset="-122"/>
                </a:rPr>
                <a:t>8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43C1B94-22C2-9052-E3E3-DB07E3159922}"/>
              </a:ext>
            </a:extLst>
          </p:cNvPr>
          <p:cNvSpPr/>
          <p:nvPr/>
        </p:nvSpPr>
        <p:spPr bwMode="auto">
          <a:xfrm>
            <a:off x="392696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08BD4A-A6A2-34A4-58E8-05670F8A4715}"/>
              </a:ext>
            </a:extLst>
          </p:cNvPr>
          <p:cNvSpPr/>
          <p:nvPr/>
        </p:nvSpPr>
        <p:spPr bwMode="auto">
          <a:xfrm>
            <a:off x="1904864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805F57-F96F-F566-C4F9-365CB184F7FA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AAA22F-6012-47DC-65A3-4B08CBC9A7F3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FF000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11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237AAE-7A3D-D5CF-13DD-0715D63110EB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A1282-3F65-A15A-B51B-153C9265EA59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96D92F-AEC3-E52C-ADF3-342F8538AF24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F000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rgbClr val="7F7F7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C8096BE-30B0-E092-C273-A7BF1F0CA747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57AF66-F493-28BE-41F0-0BFA20C41A55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FD0398-7F53-FDAA-BD79-1FB1B3BF6955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AECCE0A0-B407-2A2F-EDB8-855E34F021AA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3E9FF7A5-1C21-C7CA-C134-F5EDF0882F1D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0070C0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Times New Roman" pitchFamily="18" charset="0"/>
                <a:ea typeface="宋体" pitchFamily="2" charset="-122"/>
              </a:rPr>
              <a:t>8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367ECB2A-6999-A97E-F82B-AA9646B5C401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0D08EE76-9D88-F10D-A7BE-B7ABC8374641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587F2AF8-9980-5A52-3613-2DBFCACFD84B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966C5BB-45E2-2995-8B88-AE03A6299A55}"/>
              </a:ext>
            </a:extLst>
          </p:cNvPr>
          <p:cNvSpPr/>
          <p:nvPr/>
        </p:nvSpPr>
        <p:spPr bwMode="auto">
          <a:xfrm>
            <a:off x="392696" y="2972949"/>
            <a:ext cx="4539344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6A5961-8AF6-45E9-3EA8-B8F5FEE72C58}"/>
              </a:ext>
            </a:extLst>
          </p:cNvPr>
          <p:cNvSpPr/>
          <p:nvPr/>
        </p:nvSpPr>
        <p:spPr bwMode="auto">
          <a:xfrm>
            <a:off x="4932040" y="2972949"/>
            <a:ext cx="3024336" cy="288032"/>
          </a:xfrm>
          <a:prstGeom prst="rect">
            <a:avLst/>
          </a:prstGeom>
          <a:solidFill>
            <a:srgbClr val="FF000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54" name="Oval 4153">
            <a:extLst>
              <a:ext uri="{FF2B5EF4-FFF2-40B4-BE49-F238E27FC236}">
                <a16:creationId xmlns:a16="http://schemas.microsoft.com/office/drawing/2014/main" id="{C91F5488-E126-FFA7-E635-0BE4EE083ADD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A0E52550-C807-94BF-5707-CD5734239860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BE2065A6-9614-119D-F0BD-93EA5DC9186B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61073DB8-CFBD-2369-1DE0-208F69764DF2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9168CDC-70F0-5D34-B43B-2DC569B68BE5}"/>
              </a:ext>
            </a:extLst>
          </p:cNvPr>
          <p:cNvSpPr/>
          <p:nvPr/>
        </p:nvSpPr>
        <p:spPr bwMode="auto">
          <a:xfrm>
            <a:off x="395536" y="4245090"/>
            <a:ext cx="3024336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7CB2BC-74B6-23BE-0D25-91F59F3F3A0B}"/>
              </a:ext>
            </a:extLst>
          </p:cNvPr>
          <p:cNvSpPr/>
          <p:nvPr/>
        </p:nvSpPr>
        <p:spPr bwMode="auto">
          <a:xfrm>
            <a:off x="4932040" y="4245090"/>
            <a:ext cx="1512168" cy="288032"/>
          </a:xfrm>
          <a:prstGeom prst="rect">
            <a:avLst/>
          </a:prstGeom>
          <a:solidFill>
            <a:srgbClr val="0070C0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612E3B-1E37-CFC1-676C-3C45BCEF73E1}"/>
              </a:ext>
            </a:extLst>
          </p:cNvPr>
          <p:cNvSpPr/>
          <p:nvPr/>
        </p:nvSpPr>
        <p:spPr bwMode="auto">
          <a:xfrm>
            <a:off x="3419872" y="4245090"/>
            <a:ext cx="1512168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F6283B-BFBD-9C95-B31C-E51545D13456}"/>
              </a:ext>
            </a:extLst>
          </p:cNvPr>
          <p:cNvSpPr/>
          <p:nvPr/>
        </p:nvSpPr>
        <p:spPr bwMode="auto">
          <a:xfrm>
            <a:off x="6444208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A5F1C2B7-5951-189E-0544-7837008A0644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4570D059-47BF-0C5E-D22E-6CE96E71B766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680C22F2-4748-8AC5-3574-D2EAA31246BE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/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4E8EBC50-DDFC-AD20-E94A-BDB17F7465AC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EBE3A16A-F400-E7E5-7895-DAB5E4057823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00024-1610-EC82-2519-FC062D0498B1}"/>
              </a:ext>
            </a:extLst>
          </p:cNvPr>
          <p:cNvSpPr txBox="1"/>
          <p:nvPr/>
        </p:nvSpPr>
        <p:spPr>
          <a:xfrm>
            <a:off x="4714923" y="5072213"/>
            <a:ext cx="1964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idx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n-CN" sz="4000" dirty="0">
              <a:solidFill>
                <a:srgbClr val="0070C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6AACF6-E66F-5D2F-6BAB-F15E8DE3C407}"/>
              </a:ext>
            </a:extLst>
          </p:cNvPr>
          <p:cNvCxnSpPr>
            <a:cxnSpLocks/>
          </p:cNvCxnSpPr>
          <p:nvPr/>
        </p:nvCxnSpPr>
        <p:spPr bwMode="auto">
          <a:xfrm>
            <a:off x="5671762" y="5661248"/>
            <a:ext cx="0" cy="39805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56893EF-1920-CBEE-56C1-3597BD7702D6}"/>
              </a:ext>
            </a:extLst>
          </p:cNvPr>
          <p:cNvSpPr txBox="1"/>
          <p:nvPr/>
        </p:nvSpPr>
        <p:spPr>
          <a:xfrm>
            <a:off x="6670194" y="2143889"/>
            <a:ext cx="1396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 the range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203217-5D3B-737F-4BDD-97036C46C47A}"/>
              </a:ext>
            </a:extLst>
          </p:cNvPr>
          <p:cNvSpPr txBox="1"/>
          <p:nvPr/>
        </p:nvSpPr>
        <p:spPr>
          <a:xfrm>
            <a:off x="4849406" y="896285"/>
            <a:ext cx="1529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range</a:t>
            </a:r>
            <a:endParaRPr lang="en-CN" sz="12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B7AA08-7E63-CD1C-A07E-791F69B06823}"/>
              </a:ext>
            </a:extLst>
          </p:cNvPr>
          <p:cNvSpPr txBox="1"/>
          <p:nvPr/>
        </p:nvSpPr>
        <p:spPr>
          <a:xfrm>
            <a:off x="5958408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</a:t>
            </a:r>
            <a:endParaRPr lang="en-CN" sz="1200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133EFA-A2FD-B431-D393-8975059EDABB}"/>
              </a:ext>
            </a:extLst>
          </p:cNvPr>
          <p:cNvSpPr txBox="1"/>
          <p:nvPr/>
        </p:nvSpPr>
        <p:spPr>
          <a:xfrm>
            <a:off x="7423411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301CCD-3FFB-F733-ACCE-C298D1E34E0D}"/>
              </a:ext>
            </a:extLst>
          </p:cNvPr>
          <p:cNvSpPr txBox="1"/>
          <p:nvPr/>
        </p:nvSpPr>
        <p:spPr>
          <a:xfrm>
            <a:off x="1409453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15A80E-83AD-6566-AABB-90D5AB52DA1A}"/>
              </a:ext>
            </a:extLst>
          </p:cNvPr>
          <p:cNvSpPr txBox="1"/>
          <p:nvPr/>
        </p:nvSpPr>
        <p:spPr>
          <a:xfrm>
            <a:off x="2942084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97583-F420-7D3D-4F81-8B795D761255}"/>
              </a:ext>
            </a:extLst>
          </p:cNvPr>
          <p:cNvSpPr txBox="1"/>
          <p:nvPr/>
        </p:nvSpPr>
        <p:spPr>
          <a:xfrm>
            <a:off x="2167581" y="3429884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01991-778F-B397-42AC-E9E95D1E2931}"/>
              </a:ext>
            </a:extLst>
          </p:cNvPr>
          <p:cNvSpPr txBox="1"/>
          <p:nvPr/>
        </p:nvSpPr>
        <p:spPr>
          <a:xfrm>
            <a:off x="4377501" y="3427095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BBF11-AA38-AF3B-8912-BBDA214300DC}"/>
              </a:ext>
            </a:extLst>
          </p:cNvPr>
          <p:cNvSpPr txBox="1"/>
          <p:nvPr/>
        </p:nvSpPr>
        <p:spPr>
          <a:xfrm>
            <a:off x="3321722" y="2177196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44529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BE81E-3045-C5D8-6FA4-4C01A2144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0E841723-C539-16A0-6D62-9E4275CB7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update</a:t>
            </a:r>
            <a:endParaRPr lang="en-US" altLang="zh-CN" sz="2400" i="1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2979E1E-630C-F4AC-F7E9-9B616BEE85D3}"/>
              </a:ext>
            </a:extLst>
          </p:cNvPr>
          <p:cNvSpPr/>
          <p:nvPr/>
        </p:nvSpPr>
        <p:spPr bwMode="auto">
          <a:xfrm>
            <a:off x="4211960" y="963081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</a:rPr>
              <a:t>26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F0DD144-0D17-56A4-5892-8EEC8EAEA7E3}"/>
              </a:ext>
            </a:extLst>
          </p:cNvPr>
          <p:cNvGrpSpPr/>
          <p:nvPr/>
        </p:nvGrpSpPr>
        <p:grpSpPr>
          <a:xfrm>
            <a:off x="400607" y="6237312"/>
            <a:ext cx="7560840" cy="504056"/>
            <a:chOff x="395536" y="1986946"/>
            <a:chExt cx="7560840" cy="2880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D7CC7AE-56EE-B57E-BFBB-D6C4C410431A}"/>
                </a:ext>
              </a:extLst>
            </p:cNvPr>
            <p:cNvSpPr/>
            <p:nvPr/>
          </p:nvSpPr>
          <p:spPr bwMode="auto">
            <a:xfrm>
              <a:off x="395536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7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264F332-B474-53C3-F91F-F9785869581E}"/>
                </a:ext>
              </a:extLst>
            </p:cNvPr>
            <p:cNvSpPr/>
            <p:nvPr/>
          </p:nvSpPr>
          <p:spPr bwMode="auto">
            <a:xfrm>
              <a:off x="1907704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ea typeface="宋体" pitchFamily="2" charset="-122"/>
                </a:rPr>
                <a:t>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A26BD72-C14F-7A17-48EB-C485AF30B031}"/>
                </a:ext>
              </a:extLst>
            </p:cNvPr>
            <p:cNvSpPr/>
            <p:nvPr/>
          </p:nvSpPr>
          <p:spPr bwMode="auto">
            <a:xfrm>
              <a:off x="3419872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effectLst/>
                  <a:latin typeface="Times New Roman" pitchFamily="18" charset="0"/>
                  <a:ea typeface="宋体" pitchFamily="2" charset="-122"/>
                </a:rPr>
                <a:t>5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7CAB7CE-9CAD-94C0-2DE7-64DCF6B12385}"/>
                </a:ext>
              </a:extLst>
            </p:cNvPr>
            <p:cNvSpPr/>
            <p:nvPr/>
          </p:nvSpPr>
          <p:spPr bwMode="auto">
            <a:xfrm>
              <a:off x="6444208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sz="2400" b="1" i="0" u="none" strike="noStrike" cap="none" normalizeH="0" baseline="0" dirty="0">
                  <a:ln>
                    <a:noFill/>
                  </a:ln>
                  <a:effectLst/>
                  <a:latin typeface="Times New Roman" pitchFamily="18" charset="0"/>
                  <a:ea typeface="宋体" pitchFamily="2" charset="-122"/>
                </a:rPr>
                <a:t>3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E105D2F-2767-9693-F0C7-E446FD67E6ED}"/>
                </a:ext>
              </a:extLst>
            </p:cNvPr>
            <p:cNvSpPr/>
            <p:nvPr/>
          </p:nvSpPr>
          <p:spPr bwMode="auto">
            <a:xfrm>
              <a:off x="4932040" y="1986946"/>
              <a:ext cx="1512168" cy="28803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CN" u="none" strike="noStrike" cap="none" normalizeH="0" baseline="0" dirty="0">
                  <a:ln>
                    <a:noFill/>
                  </a:ln>
                  <a:solidFill>
                    <a:srgbClr val="0070C0"/>
                  </a:solidFill>
                  <a:effectLst/>
                  <a:latin typeface="Times New Roman" pitchFamily="18" charset="0"/>
                  <a:ea typeface="宋体" pitchFamily="2" charset="-122"/>
                </a:rPr>
                <a:t>9</a:t>
              </a:r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843C1B94-22C2-9052-E3E3-DB07E3159922}"/>
              </a:ext>
            </a:extLst>
          </p:cNvPr>
          <p:cNvSpPr/>
          <p:nvPr/>
        </p:nvSpPr>
        <p:spPr bwMode="auto">
          <a:xfrm>
            <a:off x="392696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08BD4A-A6A2-34A4-58E8-05670F8A4715}"/>
              </a:ext>
            </a:extLst>
          </p:cNvPr>
          <p:cNvSpPr/>
          <p:nvPr/>
        </p:nvSpPr>
        <p:spPr bwMode="auto">
          <a:xfrm>
            <a:off x="1904864" y="5517232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3805F57-F96F-F566-C4F9-365CB184F7FA}"/>
              </a:ext>
            </a:extLst>
          </p:cNvPr>
          <p:cNvSpPr/>
          <p:nvPr/>
        </p:nvSpPr>
        <p:spPr bwMode="auto">
          <a:xfrm>
            <a:off x="2635188" y="2250430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14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AAA22F-6012-47DC-65A3-4B08CBC9A7F3}"/>
              </a:ext>
            </a:extLst>
          </p:cNvPr>
          <p:cNvSpPr/>
          <p:nvPr/>
        </p:nvSpPr>
        <p:spPr bwMode="auto">
          <a:xfrm>
            <a:off x="6084371" y="2250430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</a:rPr>
              <a:t>12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[3,4]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0237AAE-7A3D-D5CF-13DD-0715D63110EB}"/>
              </a:ext>
            </a:extLst>
          </p:cNvPr>
          <p:cNvCxnSpPr>
            <a:cxnSpLocks/>
            <a:stCxn id="42" idx="0"/>
            <a:endCxn id="27" idx="4"/>
          </p:cNvCxnSpPr>
          <p:nvPr/>
        </p:nvCxnSpPr>
        <p:spPr bwMode="auto">
          <a:xfrm flipV="1">
            <a:off x="2995228" y="1683161"/>
            <a:ext cx="1576772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19A1282-3F65-A15A-B51B-153C9265EA59}"/>
              </a:ext>
            </a:extLst>
          </p:cNvPr>
          <p:cNvCxnSpPr>
            <a:cxnSpLocks/>
            <a:stCxn id="46" idx="0"/>
            <a:endCxn id="27" idx="4"/>
          </p:cNvCxnSpPr>
          <p:nvPr/>
        </p:nvCxnSpPr>
        <p:spPr bwMode="auto">
          <a:xfrm flipH="1" flipV="1">
            <a:off x="4572000" y="1683161"/>
            <a:ext cx="1872411" cy="56726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B96D92F-AEC3-E52C-ADF3-342F8538AF24}"/>
              </a:ext>
            </a:extLst>
          </p:cNvPr>
          <p:cNvSpPr/>
          <p:nvPr/>
        </p:nvSpPr>
        <p:spPr bwMode="auto">
          <a:xfrm>
            <a:off x="400606" y="1700808"/>
            <a:ext cx="7555769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rgbClr val="7F7F7F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6C8096BE-30B0-E092-C273-A7BF1F0CA747}"/>
              </a:ext>
            </a:extLst>
          </p:cNvPr>
          <p:cNvSpPr/>
          <p:nvPr/>
        </p:nvSpPr>
        <p:spPr bwMode="auto">
          <a:xfrm>
            <a:off x="1544824" y="3518007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[0,1]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C57AF66-F493-28BE-41F0-0BFA20C41A55}"/>
              </a:ext>
            </a:extLst>
          </p:cNvPr>
          <p:cNvSpPr/>
          <p:nvPr/>
        </p:nvSpPr>
        <p:spPr bwMode="auto">
          <a:xfrm>
            <a:off x="3815916" y="3522571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5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97FD0398-7F53-FDAA-BD79-1FB1B3BF6955}"/>
              </a:ext>
            </a:extLst>
          </p:cNvPr>
          <p:cNvCxnSpPr>
            <a:cxnSpLocks/>
            <a:stCxn id="59" idx="0"/>
            <a:endCxn id="42" idx="4"/>
          </p:cNvCxnSpPr>
          <p:nvPr/>
        </p:nvCxnSpPr>
        <p:spPr bwMode="auto">
          <a:xfrm flipV="1">
            <a:off x="1904864" y="2970510"/>
            <a:ext cx="1090364" cy="547497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96" name="Straight Connector 4095">
            <a:extLst>
              <a:ext uri="{FF2B5EF4-FFF2-40B4-BE49-F238E27FC236}">
                <a16:creationId xmlns:a16="http://schemas.microsoft.com/office/drawing/2014/main" id="{AECCE0A0-B407-2A2F-EDB8-855E34F021AA}"/>
              </a:ext>
            </a:extLst>
          </p:cNvPr>
          <p:cNvCxnSpPr>
            <a:cxnSpLocks/>
            <a:stCxn id="60" idx="0"/>
            <a:endCxn id="42" idx="4"/>
          </p:cNvCxnSpPr>
          <p:nvPr/>
        </p:nvCxnSpPr>
        <p:spPr bwMode="auto">
          <a:xfrm flipH="1" flipV="1">
            <a:off x="2995228" y="2970510"/>
            <a:ext cx="1180728" cy="552061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102" name="Oval 4101">
            <a:extLst>
              <a:ext uri="{FF2B5EF4-FFF2-40B4-BE49-F238E27FC236}">
                <a16:creationId xmlns:a16="http://schemas.microsoft.com/office/drawing/2014/main" id="{3E9FF7A5-1C21-C7CA-C134-F5EDF0882F1D}"/>
              </a:ext>
            </a:extLst>
          </p:cNvPr>
          <p:cNvSpPr/>
          <p:nvPr/>
        </p:nvSpPr>
        <p:spPr bwMode="auto">
          <a:xfrm>
            <a:off x="5397252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Times New Roman" pitchFamily="18" charset="0"/>
                <a:ea typeface="宋体" pitchFamily="2" charset="-122"/>
              </a:rPr>
              <a:t>9</a:t>
            </a:r>
            <a:endParaRPr kumimoji="1" lang="en-CN" sz="2000" b="1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3" name="Oval 4102">
            <a:extLst>
              <a:ext uri="{FF2B5EF4-FFF2-40B4-BE49-F238E27FC236}">
                <a16:creationId xmlns:a16="http://schemas.microsoft.com/office/drawing/2014/main" id="{367ECB2A-6999-A97E-F82B-AA9646B5C401}"/>
              </a:ext>
            </a:extLst>
          </p:cNvPr>
          <p:cNvSpPr/>
          <p:nvPr/>
        </p:nvSpPr>
        <p:spPr bwMode="auto">
          <a:xfrm>
            <a:off x="6873135" y="3513443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3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04" name="Straight Connector 4103">
            <a:extLst>
              <a:ext uri="{FF2B5EF4-FFF2-40B4-BE49-F238E27FC236}">
                <a16:creationId xmlns:a16="http://schemas.microsoft.com/office/drawing/2014/main" id="{0D08EE76-9D88-F10D-A7BE-B7ABC8374641}"/>
              </a:ext>
            </a:extLst>
          </p:cNvPr>
          <p:cNvCxnSpPr>
            <a:cxnSpLocks/>
            <a:stCxn id="4102" idx="0"/>
            <a:endCxn id="33" idx="0"/>
          </p:cNvCxnSpPr>
          <p:nvPr/>
        </p:nvCxnSpPr>
        <p:spPr bwMode="auto">
          <a:xfrm flipV="1">
            <a:off x="5757292" y="2972949"/>
            <a:ext cx="686916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38" name="Straight Connector 4137">
            <a:extLst>
              <a:ext uri="{FF2B5EF4-FFF2-40B4-BE49-F238E27FC236}">
                <a16:creationId xmlns:a16="http://schemas.microsoft.com/office/drawing/2014/main" id="{587F2AF8-9980-5A52-3613-2DBFCACFD84B}"/>
              </a:ext>
            </a:extLst>
          </p:cNvPr>
          <p:cNvCxnSpPr>
            <a:cxnSpLocks/>
            <a:stCxn id="4103" idx="0"/>
            <a:endCxn id="33" idx="0"/>
          </p:cNvCxnSpPr>
          <p:nvPr/>
        </p:nvCxnSpPr>
        <p:spPr bwMode="auto">
          <a:xfrm flipH="1" flipV="1">
            <a:off x="6444208" y="2972949"/>
            <a:ext cx="788967" cy="540494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A966C5BB-45E2-2995-8B88-AE03A6299A55}"/>
              </a:ext>
            </a:extLst>
          </p:cNvPr>
          <p:cNvSpPr/>
          <p:nvPr/>
        </p:nvSpPr>
        <p:spPr bwMode="auto">
          <a:xfrm>
            <a:off x="392696" y="2972949"/>
            <a:ext cx="4539344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F6A5961-8AF6-45E9-3EA8-B8F5FEE72C58}"/>
              </a:ext>
            </a:extLst>
          </p:cNvPr>
          <p:cNvSpPr/>
          <p:nvPr/>
        </p:nvSpPr>
        <p:spPr bwMode="auto">
          <a:xfrm>
            <a:off x="4932040" y="2972949"/>
            <a:ext cx="3024336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54" name="Oval 4153">
            <a:extLst>
              <a:ext uri="{FF2B5EF4-FFF2-40B4-BE49-F238E27FC236}">
                <a16:creationId xmlns:a16="http://schemas.microsoft.com/office/drawing/2014/main" id="{C91F5488-E126-FFA7-E635-0BE4EE083ADD}"/>
              </a:ext>
            </a:extLst>
          </p:cNvPr>
          <p:cNvSpPr/>
          <p:nvPr/>
        </p:nvSpPr>
        <p:spPr bwMode="auto">
          <a:xfrm>
            <a:off x="824744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7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55" name="Oval 4154">
            <a:extLst>
              <a:ext uri="{FF2B5EF4-FFF2-40B4-BE49-F238E27FC236}">
                <a16:creationId xmlns:a16="http://schemas.microsoft.com/office/drawing/2014/main" id="{A0E52550-C807-94BF-5707-CD5734239860}"/>
              </a:ext>
            </a:extLst>
          </p:cNvPr>
          <p:cNvSpPr/>
          <p:nvPr/>
        </p:nvSpPr>
        <p:spPr bwMode="auto">
          <a:xfrm>
            <a:off x="2294316" y="4794712"/>
            <a:ext cx="720080" cy="720080"/>
          </a:xfrm>
          <a:prstGeom prst="ellipse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sz="2000" b="1" i="0" u="none" strike="noStrike" cap="none" normalizeH="0" baseline="0" dirty="0">
                <a:ln>
                  <a:noFill/>
                </a:ln>
                <a:effectLst/>
                <a:latin typeface="Times New Roman" pitchFamily="18" charset="0"/>
                <a:ea typeface="宋体" pitchFamily="2" charset="-122"/>
              </a:rPr>
              <a:t>2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Times New Roman" pitchFamily="18" charset="0"/>
              <a:ea typeface="宋体" pitchFamily="2" charset="-122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CN" sz="1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kumimoji="1" lang="en-CN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156" name="Straight Connector 4155">
            <a:extLst>
              <a:ext uri="{FF2B5EF4-FFF2-40B4-BE49-F238E27FC236}">
                <a16:creationId xmlns:a16="http://schemas.microsoft.com/office/drawing/2014/main" id="{BE2065A6-9614-119D-F0BD-93EA5DC9186B}"/>
              </a:ext>
            </a:extLst>
          </p:cNvPr>
          <p:cNvCxnSpPr>
            <a:cxnSpLocks/>
            <a:stCxn id="4154" idx="0"/>
            <a:endCxn id="59" idx="4"/>
          </p:cNvCxnSpPr>
          <p:nvPr/>
        </p:nvCxnSpPr>
        <p:spPr bwMode="auto">
          <a:xfrm flipV="1">
            <a:off x="1184784" y="4238087"/>
            <a:ext cx="720080" cy="556625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59" name="Straight Connector 4158">
            <a:extLst>
              <a:ext uri="{FF2B5EF4-FFF2-40B4-BE49-F238E27FC236}">
                <a16:creationId xmlns:a16="http://schemas.microsoft.com/office/drawing/2014/main" id="{61073DB8-CFBD-2369-1DE0-208F69764DF2}"/>
              </a:ext>
            </a:extLst>
          </p:cNvPr>
          <p:cNvCxnSpPr>
            <a:cxnSpLocks/>
            <a:stCxn id="4155" idx="0"/>
            <a:endCxn id="35" idx="0"/>
          </p:cNvCxnSpPr>
          <p:nvPr/>
        </p:nvCxnSpPr>
        <p:spPr bwMode="auto">
          <a:xfrm flipH="1" flipV="1">
            <a:off x="1907704" y="4245090"/>
            <a:ext cx="746652" cy="549622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E9168CDC-70F0-5D34-B43B-2DC569B68BE5}"/>
              </a:ext>
            </a:extLst>
          </p:cNvPr>
          <p:cNvSpPr/>
          <p:nvPr/>
        </p:nvSpPr>
        <p:spPr bwMode="auto">
          <a:xfrm>
            <a:off x="395536" y="4245090"/>
            <a:ext cx="3024336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B7CB2BC-74B6-23BE-0D25-91F59F3F3A0B}"/>
              </a:ext>
            </a:extLst>
          </p:cNvPr>
          <p:cNvSpPr/>
          <p:nvPr/>
        </p:nvSpPr>
        <p:spPr bwMode="auto">
          <a:xfrm>
            <a:off x="4932040" y="4245090"/>
            <a:ext cx="1512168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D612E3B-1E37-CFC1-676C-3C45BCEF73E1}"/>
              </a:ext>
            </a:extLst>
          </p:cNvPr>
          <p:cNvSpPr/>
          <p:nvPr/>
        </p:nvSpPr>
        <p:spPr bwMode="auto">
          <a:xfrm>
            <a:off x="3419872" y="4245090"/>
            <a:ext cx="1512168" cy="288032"/>
          </a:xfrm>
          <a:prstGeom prst="rect">
            <a:avLst/>
          </a:prstGeom>
          <a:solidFill>
            <a:srgbClr val="FFFFCC">
              <a:alpha val="80000"/>
            </a:srgbClr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F6283B-BFBD-9C95-B31C-E51545D13456}"/>
              </a:ext>
            </a:extLst>
          </p:cNvPr>
          <p:cNvSpPr/>
          <p:nvPr/>
        </p:nvSpPr>
        <p:spPr bwMode="auto">
          <a:xfrm>
            <a:off x="6444208" y="4245090"/>
            <a:ext cx="1512168" cy="288032"/>
          </a:xfrm>
          <a:prstGeom prst="rect">
            <a:avLst/>
          </a:prstGeom>
          <a:solidFill>
            <a:srgbClr val="FFFFCC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CN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83978" name="TextBox 83977">
            <a:extLst>
              <a:ext uri="{FF2B5EF4-FFF2-40B4-BE49-F238E27FC236}">
                <a16:creationId xmlns:a16="http://schemas.microsoft.com/office/drawing/2014/main" id="{A5F1C2B7-5951-189E-0544-7837008A0644}"/>
              </a:ext>
            </a:extLst>
          </p:cNvPr>
          <p:cNvSpPr txBox="1"/>
          <p:nvPr/>
        </p:nvSpPr>
        <p:spPr>
          <a:xfrm>
            <a:off x="392696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[0]</a:t>
            </a:r>
            <a:endParaRPr lang="en-CN" sz="1100" dirty="0"/>
          </a:p>
        </p:txBody>
      </p:sp>
      <p:sp>
        <p:nvSpPr>
          <p:cNvPr id="83979" name="TextBox 83978">
            <a:extLst>
              <a:ext uri="{FF2B5EF4-FFF2-40B4-BE49-F238E27FC236}">
                <a16:creationId xmlns:a16="http://schemas.microsoft.com/office/drawing/2014/main" id="{4570D059-47BF-0C5E-D22E-6CE96E71B766}"/>
              </a:ext>
            </a:extLst>
          </p:cNvPr>
          <p:cNvSpPr txBox="1"/>
          <p:nvPr/>
        </p:nvSpPr>
        <p:spPr>
          <a:xfrm>
            <a:off x="1897562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en-CN" sz="1100" dirty="0"/>
          </a:p>
        </p:txBody>
      </p:sp>
      <p:sp>
        <p:nvSpPr>
          <p:cNvPr id="83980" name="TextBox 83979">
            <a:extLst>
              <a:ext uri="{FF2B5EF4-FFF2-40B4-BE49-F238E27FC236}">
                <a16:creationId xmlns:a16="http://schemas.microsoft.com/office/drawing/2014/main" id="{680C22F2-4748-8AC5-3574-D2EAA31246BE}"/>
              </a:ext>
            </a:extLst>
          </p:cNvPr>
          <p:cNvSpPr txBox="1"/>
          <p:nvPr/>
        </p:nvSpPr>
        <p:spPr>
          <a:xfrm>
            <a:off x="338721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endParaRPr lang="en-CN" sz="1100" dirty="0"/>
          </a:p>
        </p:txBody>
      </p:sp>
      <p:sp>
        <p:nvSpPr>
          <p:cNvPr id="83981" name="TextBox 83980">
            <a:extLst>
              <a:ext uri="{FF2B5EF4-FFF2-40B4-BE49-F238E27FC236}">
                <a16:creationId xmlns:a16="http://schemas.microsoft.com/office/drawing/2014/main" id="{4E8EBC50-DDFC-AD20-E94A-BDB17F7465AC}"/>
              </a:ext>
            </a:extLst>
          </p:cNvPr>
          <p:cNvSpPr txBox="1"/>
          <p:nvPr/>
        </p:nvSpPr>
        <p:spPr>
          <a:xfrm>
            <a:off x="4898775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endParaRPr lang="en-CN" sz="1100" dirty="0">
              <a:solidFill>
                <a:schemeClr val="accent3"/>
              </a:solidFill>
            </a:endParaRPr>
          </a:p>
        </p:txBody>
      </p:sp>
      <p:sp>
        <p:nvSpPr>
          <p:cNvPr id="83982" name="TextBox 83981">
            <a:extLst>
              <a:ext uri="{FF2B5EF4-FFF2-40B4-BE49-F238E27FC236}">
                <a16:creationId xmlns:a16="http://schemas.microsoft.com/office/drawing/2014/main" id="{EBE3A16A-F400-E7E5-7895-DAB5E4057823}"/>
              </a:ext>
            </a:extLst>
          </p:cNvPr>
          <p:cNvSpPr txBox="1"/>
          <p:nvPr/>
        </p:nvSpPr>
        <p:spPr>
          <a:xfrm>
            <a:off x="6401127" y="6443517"/>
            <a:ext cx="42900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CN" sz="11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endParaRPr lang="en-CN" sz="11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D00024-1610-EC82-2519-FC062D0498B1}"/>
              </a:ext>
            </a:extLst>
          </p:cNvPr>
          <p:cNvSpPr txBox="1"/>
          <p:nvPr/>
        </p:nvSpPr>
        <p:spPr>
          <a:xfrm>
            <a:off x="4714923" y="5072213"/>
            <a:ext cx="19647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A[ </a:t>
            </a:r>
            <a:r>
              <a:rPr lang="en-US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idx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] = </a:t>
            </a:r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n-CN" sz="4000" dirty="0">
              <a:solidFill>
                <a:srgbClr val="0070C0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46AACF6-E66F-5D2F-6BAB-F15E8DE3C407}"/>
              </a:ext>
            </a:extLst>
          </p:cNvPr>
          <p:cNvCxnSpPr>
            <a:cxnSpLocks/>
          </p:cNvCxnSpPr>
          <p:nvPr/>
        </p:nvCxnSpPr>
        <p:spPr bwMode="auto">
          <a:xfrm>
            <a:off x="5671762" y="5661248"/>
            <a:ext cx="0" cy="398050"/>
          </a:xfrm>
          <a:prstGeom prst="straightConnector1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56893EF-1920-CBEE-56C1-3597BD7702D6}"/>
              </a:ext>
            </a:extLst>
          </p:cNvPr>
          <p:cNvSpPr txBox="1"/>
          <p:nvPr/>
        </p:nvSpPr>
        <p:spPr>
          <a:xfrm>
            <a:off x="6670194" y="2143889"/>
            <a:ext cx="13960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</a:t>
            </a:r>
            <a:endParaRPr lang="en-CN" sz="12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7203217-5D3B-737F-4BDD-97036C46C47A}"/>
              </a:ext>
            </a:extLst>
          </p:cNvPr>
          <p:cNvSpPr txBox="1"/>
          <p:nvPr/>
        </p:nvSpPr>
        <p:spPr>
          <a:xfrm>
            <a:off x="4849406" y="896285"/>
            <a:ext cx="15299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pdated</a:t>
            </a:r>
            <a:endParaRPr lang="en-CN" sz="1200" dirty="0">
              <a:solidFill>
                <a:srgbClr val="0070C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B7AA08-7E63-CD1C-A07E-791F69B06823}"/>
              </a:ext>
            </a:extLst>
          </p:cNvPr>
          <p:cNvSpPr txBox="1"/>
          <p:nvPr/>
        </p:nvSpPr>
        <p:spPr>
          <a:xfrm>
            <a:off x="5958408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Updated</a:t>
            </a:r>
            <a:endParaRPr lang="en-CN" sz="1200" dirty="0">
              <a:solidFill>
                <a:srgbClr val="0070C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133EFA-A2FD-B431-D393-8975059EDABB}"/>
              </a:ext>
            </a:extLst>
          </p:cNvPr>
          <p:cNvSpPr txBox="1"/>
          <p:nvPr/>
        </p:nvSpPr>
        <p:spPr>
          <a:xfrm>
            <a:off x="7423411" y="3429000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301CCD-3FFB-F733-ACCE-C298D1E34E0D}"/>
              </a:ext>
            </a:extLst>
          </p:cNvPr>
          <p:cNvSpPr txBox="1"/>
          <p:nvPr/>
        </p:nvSpPr>
        <p:spPr>
          <a:xfrm>
            <a:off x="1409453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15A80E-83AD-6566-AABB-90D5AB52DA1A}"/>
              </a:ext>
            </a:extLst>
          </p:cNvPr>
          <p:cNvSpPr txBox="1"/>
          <p:nvPr/>
        </p:nvSpPr>
        <p:spPr>
          <a:xfrm>
            <a:off x="2942084" y="4723918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D97583-F420-7D3D-4F81-8B795D761255}"/>
              </a:ext>
            </a:extLst>
          </p:cNvPr>
          <p:cNvSpPr txBox="1"/>
          <p:nvPr/>
        </p:nvSpPr>
        <p:spPr>
          <a:xfrm>
            <a:off x="2167581" y="3429884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401991-778F-B397-42AC-E9E95D1E2931}"/>
              </a:ext>
            </a:extLst>
          </p:cNvPr>
          <p:cNvSpPr txBox="1"/>
          <p:nvPr/>
        </p:nvSpPr>
        <p:spPr>
          <a:xfrm>
            <a:off x="4377501" y="3427095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DBBF11-AA38-AF3B-8912-BBDA214300DC}"/>
              </a:ext>
            </a:extLst>
          </p:cNvPr>
          <p:cNvSpPr txBox="1"/>
          <p:nvPr/>
        </p:nvSpPr>
        <p:spPr>
          <a:xfrm>
            <a:off x="3321722" y="2177196"/>
            <a:ext cx="9178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sz="1200" dirty="0">
                <a:latin typeface="Arial" panose="020B0604020202020204" pitchFamily="34" charset="0"/>
                <a:cs typeface="Arial" panose="020B0604020202020204" pitchFamily="34" charset="0"/>
              </a:rPr>
              <a:t>Unvisited</a:t>
            </a:r>
            <a:endParaRPr lang="en-CN" sz="1200" dirty="0"/>
          </a:p>
        </p:txBody>
      </p:sp>
    </p:spTree>
    <p:extLst>
      <p:ext uri="{BB962C8B-B14F-4D97-AF65-F5344CB8AC3E}">
        <p14:creationId xmlns:p14="http://schemas.microsoft.com/office/powerpoint/2010/main" val="2759566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update</a:t>
            </a:r>
            <a:endParaRPr lang="en-US" altLang="zh-CN" sz="2400" i="1" dirty="0"/>
          </a:p>
        </p:txBody>
      </p:sp>
      <p:sp>
        <p:nvSpPr>
          <p:cNvPr id="7" name="AutoShape 3">
            <a:extLst>
              <a:ext uri="{FF2B5EF4-FFF2-40B4-BE49-F238E27FC236}">
                <a16:creationId xmlns:a16="http://schemas.microsoft.com/office/drawing/2014/main" id="{356CDDEF-FAC4-72F7-C941-C94A746E9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980729"/>
            <a:ext cx="7772400" cy="5544616"/>
          </a:xfrm>
          <a:prstGeom prst="foldedCorner">
            <a:avLst>
              <a:gd name="adj" fmla="val 11083"/>
            </a:avLst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 w="12700">
            <a:solidFill>
              <a:schemeClr val="tx1"/>
            </a:solidFill>
            <a:round/>
            <a:headEnd/>
            <a:tailEnd/>
          </a:ln>
        </p:spPr>
        <p:txBody>
          <a:bodyPr lIns="216000" tIns="190800" rIns="36000" bIns="4680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void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chemeClr val="accent6"/>
                </a:solidFill>
                <a:latin typeface="Arial" panose="020B0604020202020204" pitchFamily="34" charset="0"/>
              </a:rPr>
              <a:t>Update</a:t>
            </a:r>
            <a:r>
              <a:rPr lang="en-US" altLang="zh-CN" sz="1600" dirty="0">
                <a:latin typeface="Arial" panose="020B0604020202020204" pitchFamily="34" charset="0"/>
              </a:rPr>
              <a:t> (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node,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start,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end,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,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</a:t>
            </a:r>
            <a:r>
              <a:rPr lang="en-US" altLang="zh-CN" sz="1600" dirty="0" err="1">
                <a:latin typeface="Arial" panose="020B0604020202020204" pitchFamily="34" charset="0"/>
              </a:rPr>
              <a:t>val</a:t>
            </a:r>
            <a:r>
              <a:rPr lang="en-US" altLang="zh-CN" sz="1600" dirty="0">
                <a:latin typeface="Arial" panose="020B0604020202020204" pitchFamily="34" charset="0"/>
              </a:rPr>
              <a:t>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Base Case: Leaf Node found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600" dirty="0">
                <a:latin typeface="Arial" panose="020B0604020202020204" pitchFamily="34" charset="0"/>
              </a:rPr>
              <a:t> ( start == end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tree[ node ] = </a:t>
            </a:r>
            <a:r>
              <a:rPr lang="en-US" altLang="zh-CN" sz="1600" dirty="0" err="1">
                <a:latin typeface="Arial" panose="020B0604020202020204" pitchFamily="34" charset="0"/>
              </a:rPr>
              <a:t>val</a:t>
            </a:r>
            <a:r>
              <a:rPr lang="en-US" altLang="zh-CN" sz="16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return</a:t>
            </a:r>
            <a:r>
              <a:rPr lang="en-US" altLang="zh-CN" sz="16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Recursive Step: Go left or right depending on where “</a:t>
            </a:r>
            <a:r>
              <a:rPr lang="en-US" altLang="zh-CN" sz="1600" dirty="0" err="1">
                <a:solidFill>
                  <a:srgbClr val="008000"/>
                </a:solidFill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” is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int</a:t>
            </a:r>
            <a:r>
              <a:rPr lang="en-US" altLang="zh-CN" sz="1600" dirty="0">
                <a:latin typeface="Arial" panose="020B0604020202020204" pitchFamily="34" charset="0"/>
              </a:rPr>
              <a:t> mid = (start + end) /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if</a:t>
            </a:r>
            <a:r>
              <a:rPr lang="en-US" altLang="zh-CN" sz="1600" dirty="0">
                <a:latin typeface="Arial" panose="020B0604020202020204" pitchFamily="34" charset="0"/>
              </a:rPr>
              <a:t> ( start &lt;=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 &amp;&amp;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 &lt;= mid 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Index is in the left child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chemeClr val="accent6"/>
                </a:solidFill>
                <a:latin typeface="Arial" panose="020B0604020202020204" pitchFamily="34" charset="0"/>
              </a:rPr>
              <a:t>Update </a:t>
            </a:r>
            <a:r>
              <a:rPr lang="en-US" altLang="zh-CN" sz="1600" dirty="0">
                <a:latin typeface="Arial" panose="020B0604020202020204" pitchFamily="34" charset="0"/>
              </a:rPr>
              <a:t>(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 * node, start, mid,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</a:rPr>
              <a:t>val</a:t>
            </a:r>
            <a:r>
              <a:rPr lang="en-US" altLang="zh-CN" sz="1600" dirty="0">
                <a:latin typeface="Arial" panose="020B0604020202020204" pitchFamily="34" charset="0"/>
              </a:rPr>
              <a:t>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} </a:t>
            </a:r>
            <a:r>
              <a:rPr lang="en-US" altLang="zh-CN" sz="1600" dirty="0">
                <a:solidFill>
                  <a:schemeClr val="hlink"/>
                </a:solidFill>
                <a:latin typeface="Arial" panose="020B0604020202020204" pitchFamily="34" charset="0"/>
              </a:rPr>
              <a:t>else</a:t>
            </a:r>
            <a:r>
              <a:rPr lang="en-US" altLang="zh-CN" sz="1600" dirty="0">
                <a:latin typeface="Arial" panose="020B0604020202020204" pitchFamily="34" charset="0"/>
              </a:rPr>
              <a:t>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Index is in the right child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    </a:t>
            </a:r>
            <a:r>
              <a:rPr lang="en-US" altLang="zh-CN" sz="1600" dirty="0">
                <a:solidFill>
                  <a:schemeClr val="accent6"/>
                </a:solidFill>
                <a:latin typeface="Arial" panose="020B0604020202020204" pitchFamily="34" charset="0"/>
              </a:rPr>
              <a:t>Update </a:t>
            </a:r>
            <a:r>
              <a:rPr lang="en-US" altLang="zh-CN" sz="1600" dirty="0">
                <a:latin typeface="Arial" panose="020B0604020202020204" pitchFamily="34" charset="0"/>
              </a:rPr>
              <a:t>(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 * node +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</a:rPr>
              <a:t>, mid +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en-US" altLang="zh-CN" sz="1600" dirty="0">
                <a:latin typeface="Arial" panose="020B0604020202020204" pitchFamily="34" charset="0"/>
              </a:rPr>
              <a:t>, end, </a:t>
            </a:r>
            <a:r>
              <a:rPr lang="en-US" altLang="zh-CN" sz="1600" dirty="0" err="1">
                <a:latin typeface="Arial" panose="020B0604020202020204" pitchFamily="34" charset="0"/>
              </a:rPr>
              <a:t>idx</a:t>
            </a:r>
            <a:r>
              <a:rPr lang="en-US" altLang="zh-CN" sz="1600" dirty="0">
                <a:latin typeface="Arial" panose="020B0604020202020204" pitchFamily="34" charset="0"/>
              </a:rPr>
              <a:t>, </a:t>
            </a:r>
            <a:r>
              <a:rPr lang="en-US" altLang="zh-CN" sz="1600" dirty="0" err="1">
                <a:latin typeface="Arial" panose="020B0604020202020204" pitchFamily="34" charset="0"/>
              </a:rPr>
              <a:t>val</a:t>
            </a:r>
            <a:r>
              <a:rPr lang="en-US" altLang="zh-CN" sz="1600" dirty="0">
                <a:latin typeface="Arial" panose="020B0604020202020204" pitchFamily="34" charset="0"/>
              </a:rPr>
              <a:t> 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zh-CN" sz="1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</a:t>
            </a:r>
            <a:r>
              <a:rPr lang="en-US" altLang="zh-CN" sz="1600" dirty="0">
                <a:solidFill>
                  <a:srgbClr val="008000"/>
                </a:solidFill>
                <a:latin typeface="Arial" panose="020B0604020202020204" pitchFamily="34" charset="0"/>
              </a:rPr>
              <a:t>// Backtracking Step: Update current node based on new children values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    tree[ node ] = tree[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 * node ] + tree[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</a:t>
            </a:r>
            <a:r>
              <a:rPr lang="en-US" altLang="zh-CN" sz="1600" dirty="0">
                <a:latin typeface="Arial" panose="020B0604020202020204" pitchFamily="34" charset="0"/>
              </a:rPr>
              <a:t> * node + </a:t>
            </a:r>
            <a:r>
              <a:rPr lang="en-US" altLang="zh-C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 </a:t>
            </a:r>
            <a:r>
              <a:rPr lang="en-US" altLang="zh-CN" sz="1600" dirty="0">
                <a:latin typeface="Arial" panose="020B0604020202020204" pitchFamily="34" charset="0"/>
              </a:rPr>
              <a:t>];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600" dirty="0">
                <a:latin typeface="Arial" panose="020B0604020202020204" pitchFamily="34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BE761A-885F-D12E-53B7-3DA51E021654}"/>
              </a:ext>
            </a:extLst>
          </p:cNvPr>
          <p:cNvSpPr txBox="1"/>
          <p:nvPr/>
        </p:nvSpPr>
        <p:spPr>
          <a:xfrm>
            <a:off x="5148064" y="332655"/>
            <a:ext cx="3240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ym typeface="Wingdings" pitchFamily="2" charset="2"/>
              </a:rPr>
              <a:t>👍 </a:t>
            </a:r>
            <a:r>
              <a:rPr lang="en-US" altLang="zh-CN" i="1" dirty="0">
                <a:sym typeface="Wingdings" pitchFamily="2" charset="2"/>
              </a:rPr>
              <a:t>T</a:t>
            </a:r>
            <a:r>
              <a:rPr lang="en-US" altLang="zh-CN" dirty="0">
                <a:sym typeface="Wingdings" pitchFamily="2" charset="2"/>
              </a:rPr>
              <a:t>(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 = O ( log </a:t>
            </a:r>
            <a:r>
              <a:rPr lang="en-US" altLang="zh-CN" i="1" dirty="0">
                <a:sym typeface="Wingdings" pitchFamily="2" charset="2"/>
              </a:rPr>
              <a:t>N</a:t>
            </a:r>
            <a:r>
              <a:rPr lang="en-US" altLang="zh-CN" dirty="0">
                <a:sym typeface="Wingdings" pitchFamily="2" charset="2"/>
              </a:rPr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88212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autoUpdateAnimBg="0"/>
      <p:bldP spid="7" grpId="0" animBg="1" autoUpdateAnimBg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2">
            <a:extLst>
              <a:ext uri="{FF2B5EF4-FFF2-40B4-BE49-F238E27FC236}">
                <a16:creationId xmlns:a16="http://schemas.microsoft.com/office/drawing/2014/main" id="{9B18277F-0F1E-75A2-965B-FC1DCA20A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00025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dirty="0">
                <a:sym typeface="Webdings" pitchFamily="2" charset="2"/>
              </a:rPr>
              <a:t>The Segment Tree – </a:t>
            </a:r>
            <a:r>
              <a:rPr lang="en-US" altLang="zh-CN" sz="2800" i="1" dirty="0">
                <a:sym typeface="Webdings" pitchFamily="2" charset="2"/>
              </a:rPr>
              <a:t>notes</a:t>
            </a:r>
            <a:endParaRPr lang="en-US" altLang="zh-CN" sz="2400" i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B3CFE9-EB3F-F7CB-8D68-97613BF41D1A}"/>
              </a:ext>
            </a:extLst>
          </p:cNvPr>
          <p:cNvSpPr txBox="1"/>
          <p:nvPr/>
        </p:nvSpPr>
        <p:spPr>
          <a:xfrm>
            <a:off x="304800" y="1412776"/>
            <a:ext cx="8659688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CN" dirty="0"/>
              <a:t>Not limited to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en-CN" dirty="0"/>
              <a:t>, but applicable to any </a:t>
            </a:r>
            <a:r>
              <a:rPr lang="en-CN" i="1" dirty="0"/>
              <a:t>aggregation</a:t>
            </a:r>
            <a:r>
              <a:rPr lang="en-CN" dirty="0"/>
              <a:t> </a:t>
            </a:r>
            <a:r>
              <a:rPr lang="en-CN" i="1" dirty="0"/>
              <a:t>operator</a:t>
            </a:r>
            <a:r>
              <a:rPr lang="en-CN" dirty="0"/>
              <a:t> over a </a:t>
            </a:r>
            <a:r>
              <a:rPr lang="en-CN" i="1" dirty="0">
                <a:solidFill>
                  <a:srgbClr val="FF0000"/>
                </a:solidFill>
              </a:rPr>
              <a:t>range</a:t>
            </a:r>
            <a:r>
              <a:rPr lang="en-CN" dirty="0"/>
              <a:t>, such as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en-CN" dirty="0"/>
              <a:t>,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en-CN" dirty="0"/>
              <a:t>, or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</a:t>
            </a:r>
            <a:r>
              <a:rPr lang="en-CN" dirty="0"/>
              <a:t>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CN" dirty="0"/>
              <a:t>For more general </a:t>
            </a:r>
            <a:r>
              <a:rPr lang="en-CN" sz="20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RangeUpdate</a:t>
            </a:r>
            <a:r>
              <a:rPr lang="en-CN" i="1" dirty="0"/>
              <a:t> </a:t>
            </a:r>
            <a:r>
              <a:rPr lang="en-US" dirty="0"/>
              <a:t>(e.g., add 10 to all numbers from index 2 to 1000)</a:t>
            </a:r>
            <a:r>
              <a:rPr lang="en-CN" dirty="0"/>
              <a:t>, the </a:t>
            </a:r>
            <a:r>
              <a:rPr lang="en-CN" i="1" dirty="0"/>
              <a:t>lazy propagation </a:t>
            </a:r>
            <a:r>
              <a:rPr lang="en-CN" dirty="0"/>
              <a:t>strategy is effective (self study).</a:t>
            </a:r>
          </a:p>
        </p:txBody>
      </p:sp>
    </p:spTree>
    <p:extLst>
      <p:ext uri="{BB962C8B-B14F-4D97-AF65-F5344CB8AC3E}">
        <p14:creationId xmlns:p14="http://schemas.microsoft.com/office/powerpoint/2010/main" val="3303460734"/>
      </p:ext>
    </p:extLst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3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3689</TotalTime>
  <Words>1121</Words>
  <Application>Microsoft Office PowerPoint</Application>
  <PresentationFormat>全屏显示(4:3)</PresentationFormat>
  <Paragraphs>270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Arial</vt:lpstr>
      <vt:lpstr>Times New Roman</vt:lpstr>
      <vt:lpstr>Webdings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rz</dc:creator>
  <cp:lastModifiedBy>yue chen</cp:lastModifiedBy>
  <cp:revision>557</cp:revision>
  <dcterms:created xsi:type="dcterms:W3CDTF">2000-07-24T11:13:48Z</dcterms:created>
  <dcterms:modified xsi:type="dcterms:W3CDTF">2026-02-24T04:27:19Z</dcterms:modified>
</cp:coreProperties>
</file>